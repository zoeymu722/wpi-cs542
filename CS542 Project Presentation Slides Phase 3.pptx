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d69fcdf7b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d69fcdf7b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Clr>
                <a:schemeClr val="dk1"/>
              </a:buClr>
              <a:buSzPts val="1100"/>
              <a:buFont typeface="Arial"/>
              <a:buNone/>
            </a:pPr>
            <a:r>
              <a:rPr lang="zh-CN" sz="1000">
                <a:solidFill>
                  <a:schemeClr val="dk1"/>
                </a:solidFill>
                <a:latin typeface="Times New Roman"/>
                <a:ea typeface="Times New Roman"/>
                <a:cs typeface="Times New Roman"/>
                <a:sym typeface="Times New Roman"/>
              </a:rPr>
              <a:t>Hi everybody. We are the group 2 and we would like to present our group project: The database application for the Construction Submission Portal. In our group, we have Alex, Tina, Tuyen and Zongyu. The nature of this project falls strictly under the Database Application category. We are designing, developing, and implementing a fully functional Relational Database Management System (RDBMS) database application to power a real-world web application. Specifically, this project is a centralized platform designed to modernize the construction permit process. The core technical focus is engineering a robust relational database that allows design consultants to securely submit building plans - including 3D models and technical documents - to a central hub, enabling a complex workflow where multiple agency bodies can review, issue feedback, and approve the submissions in parallel.</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d69fcdf7bf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d69fcdf7bf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d69fcdf7bf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d69fcdf7bf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d7586a4b2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d7586a4b2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d84d726c5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d84d726c5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d7586a4b2e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d7586a4b2e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Clr>
                <a:schemeClr val="dk1"/>
              </a:buClr>
              <a:buSzPts val="1100"/>
              <a:buFont typeface="Arial"/>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d7128d8c51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d7128d8c51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978ac3ec6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978ac3ec6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d69fcdf7bf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d69fcdf7bf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978ac3ec6b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978ac3ec6b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d69fcdf7bf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d69fcdf7bf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d7128d8c51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d7128d8c51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d69fcdf7bf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d69fcdf7bf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d7128d8c51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d7128d8c51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d69fcdf7bf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d69fcdf7bf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d69fcdf7bf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d69fcdf7bf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png"/><Relationship Id="rId4" Type="http://schemas.openxmlformats.org/officeDocument/2006/relationships/image" Target="../media/image6.png"/><Relationship Id="rId5" Type="http://schemas.openxmlformats.org/officeDocument/2006/relationships/image" Target="../media/image4.png"/><Relationship Id="rId6" Type="http://schemas.openxmlformats.org/officeDocument/2006/relationships/image" Target="../media/image1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7.png"/><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11.png"/><Relationship Id="rId5"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255325" y="1923216"/>
            <a:ext cx="1411299" cy="1975821"/>
          </a:xfrm>
          <a:prstGeom prst="rect">
            <a:avLst/>
          </a:prstGeom>
          <a:noFill/>
          <a:ln>
            <a:noFill/>
          </a:ln>
        </p:spPr>
      </p:pic>
      <p:pic>
        <p:nvPicPr>
          <p:cNvPr id="55" name="Google Shape;55;p13" title="DinhTranManTuyen.png"/>
          <p:cNvPicPr preferRelativeResize="0"/>
          <p:nvPr/>
        </p:nvPicPr>
        <p:blipFill rotWithShape="1">
          <a:blip r:embed="rId4">
            <a:alphaModFix/>
          </a:blip>
          <a:srcRect b="0" l="15142" r="15142" t="0"/>
          <a:stretch/>
        </p:blipFill>
        <p:spPr>
          <a:xfrm>
            <a:off x="4911287" y="1855613"/>
            <a:ext cx="1411199" cy="2043424"/>
          </a:xfrm>
          <a:prstGeom prst="rect">
            <a:avLst/>
          </a:prstGeom>
          <a:noFill/>
          <a:ln>
            <a:noFill/>
          </a:ln>
        </p:spPr>
      </p:pic>
      <p:pic>
        <p:nvPicPr>
          <p:cNvPr id="56" name="Google Shape;56;p13"/>
          <p:cNvPicPr preferRelativeResize="0"/>
          <p:nvPr/>
        </p:nvPicPr>
        <p:blipFill rotWithShape="1">
          <a:blip r:embed="rId5">
            <a:alphaModFix/>
          </a:blip>
          <a:srcRect b="52403" l="33954" r="31182" t="4573"/>
          <a:stretch/>
        </p:blipFill>
        <p:spPr>
          <a:xfrm>
            <a:off x="7239968" y="1855613"/>
            <a:ext cx="1240772" cy="2043425"/>
          </a:xfrm>
          <a:prstGeom prst="rect">
            <a:avLst/>
          </a:prstGeom>
          <a:noFill/>
          <a:ln>
            <a:noFill/>
          </a:ln>
        </p:spPr>
      </p:pic>
      <p:pic>
        <p:nvPicPr>
          <p:cNvPr id="57" name="Google Shape;57;p13"/>
          <p:cNvPicPr preferRelativeResize="0"/>
          <p:nvPr/>
        </p:nvPicPr>
        <p:blipFill rotWithShape="1">
          <a:blip r:embed="rId6">
            <a:alphaModFix/>
          </a:blip>
          <a:srcRect b="0" l="3140" r="3140" t="0"/>
          <a:stretch/>
        </p:blipFill>
        <p:spPr>
          <a:xfrm>
            <a:off x="2584105" y="1851163"/>
            <a:ext cx="1409700" cy="2047875"/>
          </a:xfrm>
          <a:prstGeom prst="rect">
            <a:avLst/>
          </a:prstGeom>
          <a:noFill/>
          <a:ln>
            <a:noFill/>
          </a:ln>
        </p:spPr>
      </p:pic>
      <p:sp>
        <p:nvSpPr>
          <p:cNvPr id="58" name="Google Shape;58;p13"/>
          <p:cNvSpPr txBox="1"/>
          <p:nvPr/>
        </p:nvSpPr>
        <p:spPr>
          <a:xfrm>
            <a:off x="957750" y="431700"/>
            <a:ext cx="7228500" cy="1200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300"/>
              </a:spcAft>
              <a:buClr>
                <a:schemeClr val="dk1"/>
              </a:buClr>
              <a:buSzPts val="1100"/>
              <a:buFont typeface="Arial"/>
              <a:buNone/>
            </a:pPr>
            <a:r>
              <a:rPr b="1" lang="zh-CN" sz="3300">
                <a:solidFill>
                  <a:schemeClr val="dk1"/>
                </a:solidFill>
              </a:rPr>
              <a:t>Group Project: Database For the Construction Submission Portal</a:t>
            </a:r>
            <a:endParaRPr b="1" sz="2500">
              <a:solidFill>
                <a:schemeClr val="dk2"/>
              </a:solidFill>
            </a:endParaRPr>
          </a:p>
        </p:txBody>
      </p:sp>
      <p:sp>
        <p:nvSpPr>
          <p:cNvPr id="59" name="Google Shape;59;p13"/>
          <p:cNvSpPr txBox="1"/>
          <p:nvPr/>
        </p:nvSpPr>
        <p:spPr>
          <a:xfrm>
            <a:off x="276675" y="4050500"/>
            <a:ext cx="13686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1000"/>
              </a:spcAft>
              <a:buClr>
                <a:schemeClr val="dk1"/>
              </a:buClr>
              <a:buSzPts val="1100"/>
              <a:buFont typeface="Arial"/>
              <a:buNone/>
            </a:pPr>
            <a:r>
              <a:rPr lang="zh-CN" sz="1200">
                <a:solidFill>
                  <a:schemeClr val="dk1"/>
                </a:solidFill>
              </a:rPr>
              <a:t>Alexander Beck</a:t>
            </a:r>
            <a:br>
              <a:rPr lang="zh-CN" sz="1200">
                <a:solidFill>
                  <a:schemeClr val="dk1"/>
                </a:solidFill>
              </a:rPr>
            </a:br>
            <a:r>
              <a:rPr lang="zh-CN" sz="1200">
                <a:solidFill>
                  <a:schemeClr val="dk1"/>
                </a:solidFill>
              </a:rPr>
              <a:t>CS BS/MS</a:t>
            </a:r>
            <a:endParaRPr sz="1200">
              <a:solidFill>
                <a:schemeClr val="dk2"/>
              </a:solidFill>
            </a:endParaRPr>
          </a:p>
        </p:txBody>
      </p:sp>
      <p:sp>
        <p:nvSpPr>
          <p:cNvPr id="60" name="Google Shape;60;p13"/>
          <p:cNvSpPr txBox="1"/>
          <p:nvPr/>
        </p:nvSpPr>
        <p:spPr>
          <a:xfrm>
            <a:off x="2584100" y="4050500"/>
            <a:ext cx="13686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1000"/>
              </a:spcAft>
              <a:buClr>
                <a:schemeClr val="dk1"/>
              </a:buClr>
              <a:buSzPts val="1100"/>
              <a:buFont typeface="Arial"/>
              <a:buNone/>
            </a:pPr>
            <a:r>
              <a:rPr lang="zh-CN" sz="1200">
                <a:solidFill>
                  <a:schemeClr val="dk1"/>
                </a:solidFill>
              </a:rPr>
              <a:t>Tina Cheng</a:t>
            </a:r>
            <a:br>
              <a:rPr lang="zh-CN" sz="1200">
                <a:solidFill>
                  <a:schemeClr val="dk1"/>
                </a:solidFill>
              </a:rPr>
            </a:br>
            <a:r>
              <a:rPr lang="zh-CN" sz="1200">
                <a:solidFill>
                  <a:schemeClr val="dk1"/>
                </a:solidFill>
              </a:rPr>
              <a:t>CS Bachelor</a:t>
            </a:r>
            <a:endParaRPr sz="1200">
              <a:solidFill>
                <a:schemeClr val="dk2"/>
              </a:solidFill>
            </a:endParaRPr>
          </a:p>
        </p:txBody>
      </p:sp>
      <p:sp>
        <p:nvSpPr>
          <p:cNvPr id="61" name="Google Shape;61;p13"/>
          <p:cNvSpPr txBox="1"/>
          <p:nvPr/>
        </p:nvSpPr>
        <p:spPr>
          <a:xfrm>
            <a:off x="4721375" y="4050500"/>
            <a:ext cx="17910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1000"/>
              </a:spcAft>
              <a:buNone/>
            </a:pPr>
            <a:r>
              <a:rPr lang="zh-CN" sz="1200">
                <a:solidFill>
                  <a:schemeClr val="dk1"/>
                </a:solidFill>
              </a:rPr>
              <a:t>Tran Man Tuyen Dinh</a:t>
            </a:r>
            <a:br>
              <a:rPr lang="zh-CN" sz="1200">
                <a:solidFill>
                  <a:schemeClr val="dk1"/>
                </a:solidFill>
              </a:rPr>
            </a:br>
            <a:r>
              <a:rPr lang="zh-CN" sz="1200">
                <a:solidFill>
                  <a:schemeClr val="dk1"/>
                </a:solidFill>
              </a:rPr>
              <a:t>Master of CS</a:t>
            </a:r>
            <a:endParaRPr sz="1200">
              <a:solidFill>
                <a:schemeClr val="dk2"/>
              </a:solidFill>
            </a:endParaRPr>
          </a:p>
        </p:txBody>
      </p:sp>
      <p:sp>
        <p:nvSpPr>
          <p:cNvPr id="62" name="Google Shape;62;p13"/>
          <p:cNvSpPr txBox="1"/>
          <p:nvPr/>
        </p:nvSpPr>
        <p:spPr>
          <a:xfrm>
            <a:off x="7176063" y="4050500"/>
            <a:ext cx="13686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1000"/>
              </a:spcAft>
              <a:buNone/>
            </a:pPr>
            <a:r>
              <a:rPr lang="zh-CN" sz="1200">
                <a:solidFill>
                  <a:schemeClr val="dk1"/>
                </a:solidFill>
              </a:rPr>
              <a:t>Zongyu Mu</a:t>
            </a:r>
            <a:br>
              <a:rPr lang="zh-CN" sz="1200">
                <a:solidFill>
                  <a:schemeClr val="dk1"/>
                </a:solidFill>
              </a:rPr>
            </a:br>
            <a:r>
              <a:rPr lang="zh-CN" sz="1200">
                <a:solidFill>
                  <a:schemeClr val="dk1"/>
                </a:solidFill>
              </a:rPr>
              <a:t>Master of CS</a:t>
            </a:r>
            <a:endParaRPr sz="12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4"/>
          <p:cNvSpPr/>
          <p:nvPr/>
        </p:nvSpPr>
        <p:spPr>
          <a:xfrm>
            <a:off x="1097025" y="260550"/>
            <a:ext cx="6949939" cy="652851"/>
          </a:xfrm>
          <a:prstGeom prst="rect">
            <a:avLst/>
          </a:prstGeom>
        </p:spPr>
        <p:txBody>
          <a:bodyPr>
            <a:prstTxWarp prst="textPlain"/>
          </a:bodyPr>
          <a:lstStyle/>
          <a:p>
            <a:pPr lvl="0" algn="ctr"/>
            <a:r>
              <a:rPr b="1" i="0">
                <a:ln cap="flat" cmpd="sng" w="9525">
                  <a:solidFill>
                    <a:schemeClr val="dk2"/>
                  </a:solidFill>
                  <a:prstDash val="solid"/>
                  <a:round/>
                  <a:headEnd len="sm" w="sm" type="none"/>
                  <a:tailEnd len="sm" w="sm" type="none"/>
                </a:ln>
                <a:solidFill>
                  <a:schemeClr val="dk1"/>
                </a:solidFill>
                <a:latin typeface="Arial"/>
              </a:rPr>
              <a:t>Presentation Agenda</a:t>
            </a:r>
          </a:p>
        </p:txBody>
      </p:sp>
      <p:pic>
        <p:nvPicPr>
          <p:cNvPr id="68" name="Google Shape;68;p14"/>
          <p:cNvPicPr preferRelativeResize="0"/>
          <p:nvPr/>
        </p:nvPicPr>
        <p:blipFill>
          <a:blip r:embed="rId3">
            <a:alphaModFix/>
          </a:blip>
          <a:stretch>
            <a:fillRect/>
          </a:stretch>
        </p:blipFill>
        <p:spPr>
          <a:xfrm>
            <a:off x="-63354" y="1017159"/>
            <a:ext cx="9237001" cy="41601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5"/>
          <p:cNvSpPr/>
          <p:nvPr/>
        </p:nvSpPr>
        <p:spPr>
          <a:xfrm>
            <a:off x="350075" y="260541"/>
            <a:ext cx="8443845" cy="661311"/>
          </a:xfrm>
          <a:prstGeom prst="rect">
            <a:avLst/>
          </a:prstGeom>
        </p:spPr>
        <p:txBody>
          <a:bodyPr>
            <a:prstTxWarp prst="textPlain"/>
          </a:bodyPr>
          <a:lstStyle/>
          <a:p>
            <a:pPr lvl="0" algn="ctr"/>
            <a:r>
              <a:rPr b="1" i="0">
                <a:ln cap="flat" cmpd="sng" w="9525">
                  <a:solidFill>
                    <a:schemeClr val="dk2"/>
                  </a:solidFill>
                  <a:prstDash val="solid"/>
                  <a:round/>
                  <a:headEnd len="sm" w="sm" type="none"/>
                  <a:tailEnd len="sm" w="sm" type="none"/>
                </a:ln>
                <a:solidFill>
                  <a:schemeClr val="dk1"/>
                </a:solidFill>
                <a:latin typeface="Arial"/>
              </a:rPr>
              <a:t>Motivation &amp; Background</a:t>
            </a:r>
          </a:p>
        </p:txBody>
      </p:sp>
      <p:pic>
        <p:nvPicPr>
          <p:cNvPr id="74" name="Google Shape;74;p15"/>
          <p:cNvPicPr preferRelativeResize="0"/>
          <p:nvPr/>
        </p:nvPicPr>
        <p:blipFill>
          <a:blip r:embed="rId3">
            <a:alphaModFix/>
          </a:blip>
          <a:stretch>
            <a:fillRect/>
          </a:stretch>
        </p:blipFill>
        <p:spPr>
          <a:xfrm>
            <a:off x="-88938" y="1055255"/>
            <a:ext cx="3097975" cy="1647236"/>
          </a:xfrm>
          <a:prstGeom prst="rect">
            <a:avLst/>
          </a:prstGeom>
          <a:noFill/>
          <a:ln>
            <a:noFill/>
          </a:ln>
        </p:spPr>
      </p:pic>
      <p:pic>
        <p:nvPicPr>
          <p:cNvPr id="75" name="Google Shape;75;p15"/>
          <p:cNvPicPr preferRelativeResize="0"/>
          <p:nvPr/>
        </p:nvPicPr>
        <p:blipFill>
          <a:blip r:embed="rId4">
            <a:alphaModFix/>
          </a:blip>
          <a:stretch>
            <a:fillRect/>
          </a:stretch>
        </p:blipFill>
        <p:spPr>
          <a:xfrm>
            <a:off x="3023004" y="1055256"/>
            <a:ext cx="3097975" cy="1647236"/>
          </a:xfrm>
          <a:prstGeom prst="rect">
            <a:avLst/>
          </a:prstGeom>
          <a:noFill/>
          <a:ln>
            <a:noFill/>
          </a:ln>
        </p:spPr>
      </p:pic>
      <p:pic>
        <p:nvPicPr>
          <p:cNvPr id="76" name="Google Shape;76;p15"/>
          <p:cNvPicPr preferRelativeResize="0"/>
          <p:nvPr/>
        </p:nvPicPr>
        <p:blipFill>
          <a:blip r:embed="rId5">
            <a:alphaModFix/>
          </a:blip>
          <a:stretch>
            <a:fillRect/>
          </a:stretch>
        </p:blipFill>
        <p:spPr>
          <a:xfrm>
            <a:off x="6120139" y="1055255"/>
            <a:ext cx="3097975" cy="1647225"/>
          </a:xfrm>
          <a:prstGeom prst="rect">
            <a:avLst/>
          </a:prstGeom>
          <a:noFill/>
          <a:ln>
            <a:noFill/>
          </a:ln>
        </p:spPr>
      </p:pic>
      <p:sp>
        <p:nvSpPr>
          <p:cNvPr id="77" name="Google Shape;77;p15"/>
          <p:cNvSpPr txBox="1"/>
          <p:nvPr/>
        </p:nvSpPr>
        <p:spPr>
          <a:xfrm>
            <a:off x="59300" y="2702500"/>
            <a:ext cx="8538000" cy="5079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zh-CN" sz="2100">
                <a:solidFill>
                  <a:schemeClr val="dk1"/>
                </a:solidFill>
              </a:rPr>
              <a:t>Real-World Problems We Address</a:t>
            </a:r>
            <a:endParaRPr b="1" sz="2100">
              <a:solidFill>
                <a:schemeClr val="dk1"/>
              </a:solidFill>
            </a:endParaRPr>
          </a:p>
        </p:txBody>
      </p:sp>
      <p:sp>
        <p:nvSpPr>
          <p:cNvPr id="78" name="Google Shape;78;p15"/>
          <p:cNvSpPr/>
          <p:nvPr/>
        </p:nvSpPr>
        <p:spPr>
          <a:xfrm>
            <a:off x="148775" y="3201700"/>
            <a:ext cx="4312800" cy="861300"/>
          </a:xfrm>
          <a:prstGeom prst="roundRect">
            <a:avLst>
              <a:gd fmla="val 16667" name="adj"/>
            </a:avLst>
          </a:prstGeom>
          <a:solidFill>
            <a:schemeClr val="lt2"/>
          </a:solidFill>
          <a:ln cap="flat" cmpd="sng" w="10500">
            <a:solidFill>
              <a:schemeClr val="dk2"/>
            </a:solidFill>
            <a:prstDash val="solid"/>
            <a:round/>
            <a:headEnd len="sm" w="sm" type="none"/>
            <a:tailEnd len="sm" w="sm" type="none"/>
          </a:ln>
        </p:spPr>
        <p:txBody>
          <a:bodyPr anchorCtr="0" anchor="ctr" bIns="100900" lIns="100900" spcFirstLastPara="1" rIns="100900" wrap="square" tIns="100900">
            <a:noAutofit/>
          </a:bodyPr>
          <a:lstStyle/>
          <a:p>
            <a:pPr indent="0" lvl="0" marL="0" rtl="0" algn="ctr">
              <a:spcBef>
                <a:spcPts val="0"/>
              </a:spcBef>
              <a:spcAft>
                <a:spcPts val="0"/>
              </a:spcAft>
              <a:buClr>
                <a:schemeClr val="dk1"/>
              </a:buClr>
              <a:buSzPts val="1100"/>
              <a:buFont typeface="Arial"/>
              <a:buNone/>
            </a:pPr>
            <a:r>
              <a:rPr b="1" lang="zh-CN" sz="1545"/>
              <a:t>Paper-Based Submissions</a:t>
            </a:r>
            <a:endParaRPr b="1" sz="1545"/>
          </a:p>
          <a:p>
            <a:pPr indent="0" lvl="0" marL="0" rtl="0" algn="l">
              <a:spcBef>
                <a:spcPts val="0"/>
              </a:spcBef>
              <a:spcAft>
                <a:spcPts val="0"/>
              </a:spcAft>
              <a:buNone/>
            </a:pPr>
            <a:r>
              <a:rPr lang="zh-CN" sz="1545"/>
              <a:t>Lost records, duplicated documentation, no version control</a:t>
            </a:r>
            <a:endParaRPr sz="1545"/>
          </a:p>
        </p:txBody>
      </p:sp>
      <p:sp>
        <p:nvSpPr>
          <p:cNvPr id="79" name="Google Shape;79;p15"/>
          <p:cNvSpPr/>
          <p:nvPr/>
        </p:nvSpPr>
        <p:spPr>
          <a:xfrm>
            <a:off x="4697825" y="3201725"/>
            <a:ext cx="4312800" cy="861300"/>
          </a:xfrm>
          <a:prstGeom prst="roundRect">
            <a:avLst>
              <a:gd fmla="val 16667" name="adj"/>
            </a:avLst>
          </a:prstGeom>
          <a:solidFill>
            <a:schemeClr val="lt2"/>
          </a:solidFill>
          <a:ln cap="flat" cmpd="sng" w="10500">
            <a:solidFill>
              <a:schemeClr val="dk2"/>
            </a:solidFill>
            <a:prstDash val="solid"/>
            <a:round/>
            <a:headEnd len="sm" w="sm" type="none"/>
            <a:tailEnd len="sm" w="sm" type="none"/>
          </a:ln>
        </p:spPr>
        <p:txBody>
          <a:bodyPr anchorCtr="0" anchor="ctr" bIns="100900" lIns="100900" spcFirstLastPara="1" rIns="100900" wrap="square" tIns="100900">
            <a:noAutofit/>
          </a:bodyPr>
          <a:lstStyle/>
          <a:p>
            <a:pPr indent="0" lvl="0" marL="0" rtl="0" algn="ctr">
              <a:spcBef>
                <a:spcPts val="0"/>
              </a:spcBef>
              <a:spcAft>
                <a:spcPts val="0"/>
              </a:spcAft>
              <a:buClr>
                <a:schemeClr val="dk1"/>
              </a:buClr>
              <a:buSzPts val="1100"/>
              <a:buFont typeface="Arial"/>
              <a:buNone/>
            </a:pPr>
            <a:r>
              <a:rPr b="1" lang="zh-CN" sz="1545"/>
              <a:t>Sequential Reviews</a:t>
            </a:r>
            <a:endParaRPr b="1" sz="1545"/>
          </a:p>
          <a:p>
            <a:pPr indent="0" lvl="0" marL="0" rtl="0" algn="l">
              <a:spcBef>
                <a:spcPts val="0"/>
              </a:spcBef>
              <a:spcAft>
                <a:spcPts val="0"/>
              </a:spcAft>
              <a:buNone/>
            </a:pPr>
            <a:r>
              <a:rPr lang="zh-CN" sz="1545"/>
              <a:t>Agencies wait for each other; weeks-long bottlenecks</a:t>
            </a:r>
            <a:endParaRPr sz="1545"/>
          </a:p>
        </p:txBody>
      </p:sp>
      <p:sp>
        <p:nvSpPr>
          <p:cNvPr id="80" name="Google Shape;80;p15"/>
          <p:cNvSpPr/>
          <p:nvPr/>
        </p:nvSpPr>
        <p:spPr>
          <a:xfrm>
            <a:off x="148775" y="4208000"/>
            <a:ext cx="4312800" cy="861300"/>
          </a:xfrm>
          <a:prstGeom prst="roundRect">
            <a:avLst>
              <a:gd fmla="val 16667" name="adj"/>
            </a:avLst>
          </a:prstGeom>
          <a:solidFill>
            <a:schemeClr val="lt2"/>
          </a:solidFill>
          <a:ln cap="flat" cmpd="sng" w="10500">
            <a:solidFill>
              <a:schemeClr val="dk2"/>
            </a:solidFill>
            <a:prstDash val="solid"/>
            <a:round/>
            <a:headEnd len="sm" w="sm" type="none"/>
            <a:tailEnd len="sm" w="sm" type="none"/>
          </a:ln>
        </p:spPr>
        <p:txBody>
          <a:bodyPr anchorCtr="0" anchor="ctr" bIns="100900" lIns="100900" spcFirstLastPara="1" rIns="100900" wrap="square" tIns="100900">
            <a:noAutofit/>
          </a:bodyPr>
          <a:lstStyle/>
          <a:p>
            <a:pPr indent="0" lvl="0" marL="0" rtl="0" algn="ctr">
              <a:spcBef>
                <a:spcPts val="0"/>
              </a:spcBef>
              <a:spcAft>
                <a:spcPts val="0"/>
              </a:spcAft>
              <a:buClr>
                <a:schemeClr val="dk1"/>
              </a:buClr>
              <a:buSzPts val="1100"/>
              <a:buFont typeface="Arial"/>
              <a:buNone/>
            </a:pPr>
            <a:r>
              <a:rPr b="1" lang="zh-CN" sz="1545"/>
              <a:t>Version Control Issues</a:t>
            </a:r>
            <a:endParaRPr b="1" sz="1545"/>
          </a:p>
          <a:p>
            <a:pPr indent="0" lvl="0" marL="0" rtl="0" algn="l">
              <a:spcBef>
                <a:spcPts val="0"/>
              </a:spcBef>
              <a:spcAft>
                <a:spcPts val="0"/>
              </a:spcAft>
              <a:buNone/>
            </a:pPr>
            <a:r>
              <a:rPr lang="zh-CN" sz="1545"/>
              <a:t>Agencies review outdated plans while v3 is already drafted</a:t>
            </a:r>
            <a:endParaRPr sz="1545"/>
          </a:p>
        </p:txBody>
      </p:sp>
      <p:sp>
        <p:nvSpPr>
          <p:cNvPr id="81" name="Google Shape;81;p15"/>
          <p:cNvSpPr/>
          <p:nvPr/>
        </p:nvSpPr>
        <p:spPr>
          <a:xfrm>
            <a:off x="4697825" y="4208000"/>
            <a:ext cx="4312800" cy="861300"/>
          </a:xfrm>
          <a:prstGeom prst="roundRect">
            <a:avLst>
              <a:gd fmla="val 16667" name="adj"/>
            </a:avLst>
          </a:prstGeom>
          <a:solidFill>
            <a:schemeClr val="lt2"/>
          </a:solidFill>
          <a:ln cap="flat" cmpd="sng" w="10500">
            <a:solidFill>
              <a:schemeClr val="dk2"/>
            </a:solidFill>
            <a:prstDash val="solid"/>
            <a:round/>
            <a:headEnd len="sm" w="sm" type="none"/>
            <a:tailEnd len="sm" w="sm" type="none"/>
          </a:ln>
        </p:spPr>
        <p:txBody>
          <a:bodyPr anchorCtr="0" anchor="ctr" bIns="100900" lIns="100900" spcFirstLastPara="1" rIns="100900" wrap="square" tIns="100900">
            <a:noAutofit/>
          </a:bodyPr>
          <a:lstStyle/>
          <a:p>
            <a:pPr indent="0" lvl="0" marL="0" rtl="0" algn="ctr">
              <a:spcBef>
                <a:spcPts val="0"/>
              </a:spcBef>
              <a:spcAft>
                <a:spcPts val="0"/>
              </a:spcAft>
              <a:buClr>
                <a:schemeClr val="dk1"/>
              </a:buClr>
              <a:buSzPts val="1100"/>
              <a:buFont typeface="Arial"/>
              <a:buNone/>
            </a:pPr>
            <a:r>
              <a:rPr b="1" lang="zh-CN" sz="1545"/>
              <a:t>Cost of Delay</a:t>
            </a:r>
            <a:endParaRPr b="1" sz="1545"/>
          </a:p>
          <a:p>
            <a:pPr indent="0" lvl="0" marL="0" rtl="0" algn="l">
              <a:spcBef>
                <a:spcPts val="0"/>
              </a:spcBef>
              <a:spcAft>
                <a:spcPts val="0"/>
              </a:spcAft>
              <a:buNone/>
            </a:pPr>
            <a:r>
              <a:rPr lang="zh-CN" sz="1545"/>
              <a:t>Thousands/day in developer interest during approval delays</a:t>
            </a:r>
            <a:endParaRPr sz="1545"/>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6"/>
          <p:cNvSpPr/>
          <p:nvPr/>
        </p:nvSpPr>
        <p:spPr>
          <a:xfrm>
            <a:off x="1737163" y="127132"/>
            <a:ext cx="5669650" cy="661311"/>
          </a:xfrm>
          <a:prstGeom prst="rect">
            <a:avLst/>
          </a:prstGeom>
        </p:spPr>
        <p:txBody>
          <a:bodyPr>
            <a:prstTxWarp prst="textPlain"/>
          </a:bodyPr>
          <a:lstStyle/>
          <a:p>
            <a:pPr lvl="0" algn="ctr"/>
            <a:r>
              <a:rPr b="1" i="0">
                <a:ln cap="flat" cmpd="sng" w="9525">
                  <a:solidFill>
                    <a:schemeClr val="dk2"/>
                  </a:solidFill>
                  <a:prstDash val="solid"/>
                  <a:round/>
                  <a:headEnd len="sm" w="sm" type="none"/>
                  <a:tailEnd len="sm" w="sm" type="none"/>
                </a:ln>
                <a:solidFill>
                  <a:schemeClr val="dk1"/>
                </a:solidFill>
                <a:latin typeface="Arial"/>
              </a:rPr>
              <a:t>Project Overview</a:t>
            </a:r>
          </a:p>
        </p:txBody>
      </p:sp>
      <p:pic>
        <p:nvPicPr>
          <p:cNvPr id="87" name="Google Shape;87;p16"/>
          <p:cNvPicPr preferRelativeResize="0"/>
          <p:nvPr/>
        </p:nvPicPr>
        <p:blipFill>
          <a:blip r:embed="rId3">
            <a:alphaModFix/>
          </a:blip>
          <a:stretch>
            <a:fillRect/>
          </a:stretch>
        </p:blipFill>
        <p:spPr>
          <a:xfrm>
            <a:off x="-148229" y="807437"/>
            <a:ext cx="4684000" cy="4684000"/>
          </a:xfrm>
          <a:prstGeom prst="rect">
            <a:avLst/>
          </a:prstGeom>
          <a:noFill/>
          <a:ln>
            <a:noFill/>
          </a:ln>
        </p:spPr>
      </p:pic>
      <p:pic>
        <p:nvPicPr>
          <p:cNvPr id="88" name="Google Shape;88;p16"/>
          <p:cNvPicPr preferRelativeResize="0"/>
          <p:nvPr/>
        </p:nvPicPr>
        <p:blipFill>
          <a:blip r:embed="rId4">
            <a:alphaModFix/>
          </a:blip>
          <a:stretch>
            <a:fillRect/>
          </a:stretch>
        </p:blipFill>
        <p:spPr>
          <a:xfrm>
            <a:off x="4354725" y="788450"/>
            <a:ext cx="4939174" cy="2217929"/>
          </a:xfrm>
          <a:prstGeom prst="rect">
            <a:avLst/>
          </a:prstGeom>
          <a:noFill/>
          <a:ln>
            <a:noFill/>
          </a:ln>
        </p:spPr>
      </p:pic>
      <p:pic>
        <p:nvPicPr>
          <p:cNvPr id="89" name="Google Shape;89;p16"/>
          <p:cNvPicPr preferRelativeResize="0"/>
          <p:nvPr/>
        </p:nvPicPr>
        <p:blipFill rotWithShape="1">
          <a:blip r:embed="rId5">
            <a:alphaModFix/>
          </a:blip>
          <a:srcRect b="12636" l="2371" r="4993" t="5417"/>
          <a:stretch/>
        </p:blipFill>
        <p:spPr>
          <a:xfrm>
            <a:off x="4428839" y="3042671"/>
            <a:ext cx="4865050" cy="203142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152400" y="152400"/>
            <a:ext cx="8839201" cy="482530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8"/>
          <p:cNvSpPr/>
          <p:nvPr/>
        </p:nvSpPr>
        <p:spPr>
          <a:xfrm>
            <a:off x="1683848" y="298379"/>
            <a:ext cx="5776298" cy="582743"/>
          </a:xfrm>
          <a:prstGeom prst="rect">
            <a:avLst/>
          </a:prstGeom>
        </p:spPr>
        <p:txBody>
          <a:bodyPr>
            <a:prstTxWarp prst="textPlain"/>
          </a:bodyPr>
          <a:lstStyle/>
          <a:p>
            <a:pPr lvl="0" algn="ctr"/>
            <a:r>
              <a:rPr b="1" i="0">
                <a:ln cap="flat" cmpd="sng" w="9525">
                  <a:solidFill>
                    <a:schemeClr val="dk2"/>
                  </a:solidFill>
                  <a:prstDash val="solid"/>
                  <a:round/>
                  <a:headEnd len="sm" w="sm" type="none"/>
                  <a:tailEnd len="sm" w="sm" type="none"/>
                </a:ln>
                <a:solidFill>
                  <a:schemeClr val="dk1"/>
                </a:solidFill>
                <a:latin typeface="Arial"/>
              </a:rPr>
              <a:t>User Requirements</a:t>
            </a:r>
          </a:p>
        </p:txBody>
      </p:sp>
      <p:sp>
        <p:nvSpPr>
          <p:cNvPr id="100" name="Google Shape;100;p18"/>
          <p:cNvSpPr/>
          <p:nvPr/>
        </p:nvSpPr>
        <p:spPr>
          <a:xfrm>
            <a:off x="424650" y="1106850"/>
            <a:ext cx="3748800" cy="1158900"/>
          </a:xfrm>
          <a:prstGeom prst="roundRect">
            <a:avLst>
              <a:gd fmla="val 16667" name="adj"/>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zh-CN" sz="1500"/>
              <a:t>Project Coordinator:</a:t>
            </a:r>
            <a:r>
              <a:rPr b="1" lang="zh-CN"/>
              <a:t> </a:t>
            </a:r>
            <a:r>
              <a:rPr lang="zh-CN"/>
              <a:t>Creates projects, assembles teams, manages multiple projects simultaneously. Recorded: Name, Role, Reg. No., National ID, Email.</a:t>
            </a:r>
            <a:endParaRPr/>
          </a:p>
        </p:txBody>
      </p:sp>
      <p:sp>
        <p:nvSpPr>
          <p:cNvPr id="101" name="Google Shape;101;p18"/>
          <p:cNvSpPr/>
          <p:nvPr/>
        </p:nvSpPr>
        <p:spPr>
          <a:xfrm>
            <a:off x="4970542" y="1106850"/>
            <a:ext cx="3748800" cy="1158900"/>
          </a:xfrm>
          <a:prstGeom prst="roundRect">
            <a:avLst>
              <a:gd fmla="val 16667" name="adj"/>
            </a:avLst>
          </a:prstGeom>
          <a:solidFill>
            <a:srgbClr val="F9CB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zh-CN" sz="1500"/>
              <a:t>Qualified Person:</a:t>
            </a:r>
            <a:r>
              <a:rPr lang="zh-CN" sz="1500"/>
              <a:t> </a:t>
            </a:r>
            <a:r>
              <a:rPr lang="zh-CN"/>
              <a:t>Licensed professionals with multiple scope assignments. Can also serve as Submission Coordinator (SC).</a:t>
            </a:r>
            <a:endParaRPr/>
          </a:p>
        </p:txBody>
      </p:sp>
      <p:sp>
        <p:nvSpPr>
          <p:cNvPr id="102" name="Google Shape;102;p18"/>
          <p:cNvSpPr/>
          <p:nvPr/>
        </p:nvSpPr>
        <p:spPr>
          <a:xfrm>
            <a:off x="424650" y="2461813"/>
            <a:ext cx="3748800" cy="1158900"/>
          </a:xfrm>
          <a:prstGeom prst="roundRect">
            <a:avLst>
              <a:gd fmla="val 16667" name="adj"/>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zh-CN" sz="1500"/>
              <a:t>Developer:</a:t>
            </a:r>
            <a:r>
              <a:rPr lang="zh-CN" sz="1500"/>
              <a:t> </a:t>
            </a:r>
            <a:r>
              <a:rPr lang="zh-CN"/>
              <a:t>Client entity (Individual or Organization) that authorizes the project team and submission packages.</a:t>
            </a:r>
            <a:endParaRPr/>
          </a:p>
        </p:txBody>
      </p:sp>
      <p:sp>
        <p:nvSpPr>
          <p:cNvPr id="103" name="Google Shape;103;p18"/>
          <p:cNvSpPr/>
          <p:nvPr/>
        </p:nvSpPr>
        <p:spPr>
          <a:xfrm>
            <a:off x="424650" y="3816775"/>
            <a:ext cx="3748800" cy="1158900"/>
          </a:xfrm>
          <a:prstGeom prst="roundRect">
            <a:avLst>
              <a:gd fmla="val 16667" name="adj"/>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zh-CN" sz="1500"/>
              <a:t>Submission Package:</a:t>
            </a:r>
            <a:r>
              <a:rPr b="1" lang="zh-CN"/>
              <a:t> </a:t>
            </a:r>
            <a:r>
              <a:rPr lang="zh-CN"/>
              <a:t>Multi-versioned application instance with statuses: Draft → Pending → Submitted → Processing → Approved/Rejected.</a:t>
            </a:r>
            <a:endParaRPr/>
          </a:p>
        </p:txBody>
      </p:sp>
      <p:sp>
        <p:nvSpPr>
          <p:cNvPr id="104" name="Google Shape;104;p18"/>
          <p:cNvSpPr/>
          <p:nvPr/>
        </p:nvSpPr>
        <p:spPr>
          <a:xfrm>
            <a:off x="4970542" y="2461825"/>
            <a:ext cx="3748800" cy="11589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zh-CN" sz="1500"/>
              <a:t>Agency &amp; Processing Officer:</a:t>
            </a:r>
            <a:r>
              <a:rPr b="1" lang="zh-CN"/>
              <a:t> </a:t>
            </a:r>
            <a:r>
              <a:rPr lang="zh-CN"/>
              <a:t>Reviews submissions, issues Written Directions (WD), assigns POs by expertise and project type.</a:t>
            </a:r>
            <a:endParaRPr/>
          </a:p>
        </p:txBody>
      </p:sp>
      <p:sp>
        <p:nvSpPr>
          <p:cNvPr id="105" name="Google Shape;105;p18"/>
          <p:cNvSpPr/>
          <p:nvPr/>
        </p:nvSpPr>
        <p:spPr>
          <a:xfrm>
            <a:off x="4970542" y="3816800"/>
            <a:ext cx="3748800" cy="1158900"/>
          </a:xfrm>
          <a:prstGeom prst="roundRect">
            <a:avLst>
              <a:gd fmla="val 16667" name="adj"/>
            </a:avLst>
          </a:prstGeom>
          <a:solidFill>
            <a:srgbClr val="D9D2E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zh-CN" sz="1500"/>
              <a:t>Documents &amp; WD: </a:t>
            </a:r>
            <a:r>
              <a:rPr lang="zh-CN"/>
              <a:t>Technical files (PDF, 3D models) tracked per section with read-only lock flags. WD feedback linked to sections.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9" name="Shape 109"/>
        <p:cNvGrpSpPr/>
        <p:nvPr/>
      </p:nvGrpSpPr>
      <p:grpSpPr>
        <a:xfrm>
          <a:off x="0" y="0"/>
          <a:ext cx="0" cy="0"/>
          <a:chOff x="0" y="0"/>
          <a:chExt cx="0" cy="0"/>
        </a:xfrm>
      </p:grpSpPr>
      <p:pic>
        <p:nvPicPr>
          <p:cNvPr id="110" name="Google Shape;110;p19" title="Gemini_Generated_Image_a7s9waa7s9waa7s9.png"/>
          <p:cNvPicPr preferRelativeResize="0"/>
          <p:nvPr/>
        </p:nvPicPr>
        <p:blipFill rotWithShape="1">
          <a:blip r:embed="rId3">
            <a:alphaModFix/>
          </a:blip>
          <a:srcRect b="11830" l="0" r="0" t="16557"/>
          <a:stretch/>
        </p:blipFill>
        <p:spPr>
          <a:xfrm>
            <a:off x="0" y="1085058"/>
            <a:ext cx="9144003" cy="3654843"/>
          </a:xfrm>
          <a:prstGeom prst="rect">
            <a:avLst/>
          </a:prstGeom>
          <a:noFill/>
          <a:ln>
            <a:noFill/>
          </a:ln>
        </p:spPr>
      </p:pic>
      <p:sp>
        <p:nvSpPr>
          <p:cNvPr id="111" name="Google Shape;111;p19"/>
          <p:cNvSpPr/>
          <p:nvPr/>
        </p:nvSpPr>
        <p:spPr>
          <a:xfrm>
            <a:off x="974423" y="305050"/>
            <a:ext cx="7195161" cy="510618"/>
          </a:xfrm>
          <a:prstGeom prst="rect">
            <a:avLst/>
          </a:prstGeom>
        </p:spPr>
        <p:txBody>
          <a:bodyPr>
            <a:prstTxWarp prst="textPlain"/>
          </a:bodyPr>
          <a:lstStyle/>
          <a:p>
            <a:pPr lvl="0" algn="ctr"/>
            <a:r>
              <a:rPr b="1" i="0">
                <a:ln cap="flat" cmpd="sng" w="9525">
                  <a:solidFill>
                    <a:srgbClr val="595959"/>
                  </a:solidFill>
                  <a:prstDash val="solid"/>
                  <a:round/>
                  <a:headEnd len="sm" w="sm" type="none"/>
                  <a:tailEnd len="sm" w="sm" type="none"/>
                </a:ln>
                <a:solidFill>
                  <a:srgbClr val="000000"/>
                </a:solidFill>
                <a:latin typeface="Arial"/>
              </a:rPr>
              <a:t>User Queries/Questions</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0"/>
          <p:cNvSpPr/>
          <p:nvPr/>
        </p:nvSpPr>
        <p:spPr>
          <a:xfrm>
            <a:off x="646525" y="186438"/>
            <a:ext cx="4304056" cy="564018"/>
          </a:xfrm>
          <a:prstGeom prst="rect">
            <a:avLst/>
          </a:prstGeom>
        </p:spPr>
        <p:txBody>
          <a:bodyPr>
            <a:prstTxWarp prst="textPlain"/>
          </a:bodyPr>
          <a:lstStyle/>
          <a:p>
            <a:pPr lvl="0" algn="ctr"/>
            <a:r>
              <a:rPr b="1" i="0">
                <a:ln cap="flat" cmpd="sng" w="9525">
                  <a:solidFill>
                    <a:schemeClr val="dk2"/>
                  </a:solidFill>
                  <a:prstDash val="solid"/>
                  <a:round/>
                  <a:headEnd len="sm" w="sm" type="none"/>
                  <a:tailEnd len="sm" w="sm" type="none"/>
                </a:ln>
                <a:solidFill>
                  <a:schemeClr val="dk1"/>
                </a:solidFill>
                <a:latin typeface="Arial"/>
              </a:rPr>
              <a:t>User Queries</a:t>
            </a:r>
          </a:p>
        </p:txBody>
      </p:sp>
      <p:sp>
        <p:nvSpPr>
          <p:cNvPr id="117" name="Google Shape;117;p20"/>
          <p:cNvSpPr/>
          <p:nvPr/>
        </p:nvSpPr>
        <p:spPr>
          <a:xfrm>
            <a:off x="266814" y="965807"/>
            <a:ext cx="4135500" cy="9018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zh-CN" sz="1800"/>
              <a:t>All projects &amp; status managed by a specific Project Coordinator</a:t>
            </a:r>
            <a:endParaRPr b="1" sz="1700"/>
          </a:p>
        </p:txBody>
      </p:sp>
      <p:sp>
        <p:nvSpPr>
          <p:cNvPr id="118" name="Google Shape;118;p20"/>
          <p:cNvSpPr/>
          <p:nvPr/>
        </p:nvSpPr>
        <p:spPr>
          <a:xfrm>
            <a:off x="266814" y="2037218"/>
            <a:ext cx="4135500" cy="9018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zh-CN" sz="1800"/>
              <a:t>All project members, roles &amp; appointment status for a project</a:t>
            </a:r>
            <a:endParaRPr b="1" sz="1800"/>
          </a:p>
        </p:txBody>
      </p:sp>
      <p:sp>
        <p:nvSpPr>
          <p:cNvPr id="119" name="Google Shape;119;p20"/>
          <p:cNvSpPr/>
          <p:nvPr/>
        </p:nvSpPr>
        <p:spPr>
          <a:xfrm>
            <a:off x="266814" y="3108607"/>
            <a:ext cx="4135500" cy="9018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zh-CN" sz="1800"/>
              <a:t>All 'Processing' submissions assigned to a specific agency officer</a:t>
            </a:r>
            <a:endParaRPr b="1" sz="1800"/>
          </a:p>
        </p:txBody>
      </p:sp>
      <p:sp>
        <p:nvSpPr>
          <p:cNvPr id="120" name="Google Shape;120;p20"/>
          <p:cNvSpPr/>
          <p:nvPr/>
        </p:nvSpPr>
        <p:spPr>
          <a:xfrm>
            <a:off x="266814" y="4180007"/>
            <a:ext cx="4135500" cy="9018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zh-CN" sz="1800"/>
              <a:t>Count of WDs per Processing Officer for a project type (last quarter)</a:t>
            </a:r>
            <a:endParaRPr b="1" sz="1800"/>
          </a:p>
        </p:txBody>
      </p:sp>
      <p:sp>
        <p:nvSpPr>
          <p:cNvPr id="121" name="Google Shape;121;p20"/>
          <p:cNvSpPr/>
          <p:nvPr/>
        </p:nvSpPr>
        <p:spPr>
          <a:xfrm>
            <a:off x="4745150" y="965807"/>
            <a:ext cx="4135500" cy="9018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zh-CN" sz="1800"/>
              <a:t>All pending tasks (Pending Declaration / Payment / WD Reply) per user</a:t>
            </a:r>
            <a:endParaRPr b="1" sz="1800"/>
          </a:p>
        </p:txBody>
      </p:sp>
      <p:sp>
        <p:nvSpPr>
          <p:cNvPr id="122" name="Google Shape;122;p20"/>
          <p:cNvSpPr/>
          <p:nvPr/>
        </p:nvSpPr>
        <p:spPr>
          <a:xfrm>
            <a:off x="4745150" y="2041382"/>
            <a:ext cx="4135500" cy="9018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zh-CN" sz="1800"/>
              <a:t>Latest submission version + section completion status per package</a:t>
            </a:r>
            <a:endParaRPr b="1" sz="1800"/>
          </a:p>
        </p:txBody>
      </p:sp>
      <p:sp>
        <p:nvSpPr>
          <p:cNvPr id="123" name="Google Shape;123;p20"/>
          <p:cNvSpPr/>
          <p:nvPr/>
        </p:nvSpPr>
        <p:spPr>
          <a:xfrm>
            <a:off x="4745150" y="3116957"/>
            <a:ext cx="4135500" cy="9018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zh-CN" sz="1800"/>
              <a:t>All Written Directions by severity &amp; timestamp for a submission</a:t>
            </a:r>
            <a:endParaRPr b="1" sz="1800"/>
          </a:p>
        </p:txBody>
      </p:sp>
      <p:sp>
        <p:nvSpPr>
          <p:cNvPr id="124" name="Google Shape;124;p20"/>
          <p:cNvSpPr/>
          <p:nvPr/>
        </p:nvSpPr>
        <p:spPr>
          <a:xfrm>
            <a:off x="4745150" y="4180007"/>
            <a:ext cx="4135500" cy="9018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zh-CN" sz="1800"/>
              <a:t>All 'Approved' or 'Rejected' packages within a date range</a:t>
            </a:r>
            <a:endParaRPr b="1" sz="1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1"/>
          <p:cNvSpPr/>
          <p:nvPr/>
        </p:nvSpPr>
        <p:spPr>
          <a:xfrm>
            <a:off x="7898602" y="2376825"/>
            <a:ext cx="1105272" cy="389844"/>
          </a:xfrm>
          <a:prstGeom prst="rect">
            <a:avLst/>
          </a:prstGeom>
        </p:spPr>
        <p:txBody>
          <a:bodyPr>
            <a:prstTxWarp prst="textPlain"/>
          </a:bodyPr>
          <a:lstStyle/>
          <a:p>
            <a:pPr lvl="0" algn="ctr"/>
            <a:r>
              <a:rPr b="1" i="0">
                <a:ln cap="flat" cmpd="sng" w="9525">
                  <a:solidFill>
                    <a:schemeClr val="dk2"/>
                  </a:solidFill>
                  <a:prstDash val="solid"/>
                  <a:round/>
                  <a:headEnd len="sm" w="sm" type="none"/>
                  <a:tailEnd len="sm" w="sm" type="none"/>
                </a:ln>
                <a:solidFill>
                  <a:schemeClr val="dk1"/>
                </a:solidFill>
                <a:latin typeface="Arial"/>
              </a:rPr>
              <a:t>UML</a:t>
            </a:r>
          </a:p>
        </p:txBody>
      </p:sp>
      <p:pic>
        <p:nvPicPr>
          <p:cNvPr id="130" name="Google Shape;130;p21" title="WhatsApp Image 2026-04-21 at 15.53.22.jpeg"/>
          <p:cNvPicPr preferRelativeResize="0"/>
          <p:nvPr/>
        </p:nvPicPr>
        <p:blipFill>
          <a:blip r:embed="rId3">
            <a:alphaModFix/>
          </a:blip>
          <a:stretch>
            <a:fillRect/>
          </a:stretch>
        </p:blipFill>
        <p:spPr>
          <a:xfrm>
            <a:off x="762000" y="152400"/>
            <a:ext cx="6527760" cy="483870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id="135" name="Google Shape;135;p22"/>
          <p:cNvPicPr preferRelativeResize="0"/>
          <p:nvPr/>
        </p:nvPicPr>
        <p:blipFill>
          <a:blip r:embed="rId3">
            <a:alphaModFix/>
          </a:blip>
          <a:stretch>
            <a:fillRect/>
          </a:stretch>
        </p:blipFill>
        <p:spPr>
          <a:xfrm>
            <a:off x="-131825" y="711489"/>
            <a:ext cx="9349951" cy="4506124"/>
          </a:xfrm>
          <a:prstGeom prst="rect">
            <a:avLst/>
          </a:prstGeom>
          <a:noFill/>
          <a:ln>
            <a:noFill/>
          </a:ln>
        </p:spPr>
      </p:pic>
      <p:sp>
        <p:nvSpPr>
          <p:cNvPr id="136" name="Google Shape;136;p22"/>
          <p:cNvSpPr/>
          <p:nvPr/>
        </p:nvSpPr>
        <p:spPr>
          <a:xfrm>
            <a:off x="647127" y="171157"/>
            <a:ext cx="7792061" cy="495873"/>
          </a:xfrm>
          <a:prstGeom prst="rect">
            <a:avLst/>
          </a:prstGeom>
        </p:spPr>
        <p:txBody>
          <a:bodyPr>
            <a:prstTxWarp prst="textPlain"/>
          </a:bodyPr>
          <a:lstStyle/>
          <a:p>
            <a:pPr lvl="0" algn="ctr"/>
            <a:r>
              <a:rPr b="1" i="0">
                <a:ln cap="flat" cmpd="sng" w="9525">
                  <a:solidFill>
                    <a:schemeClr val="dk2"/>
                  </a:solidFill>
                  <a:prstDash val="solid"/>
                  <a:round/>
                  <a:headEnd len="sm" w="sm" type="none"/>
                  <a:tailEnd len="sm" w="sm" type="none"/>
                </a:ln>
                <a:solidFill>
                  <a:schemeClr val="dk1"/>
                </a:solidFill>
                <a:latin typeface="Arial"/>
              </a:rPr>
              <a:t>Database Design - Key Entities</a:t>
            </a:r>
          </a:p>
        </p:txBody>
      </p:sp>
      <p:sp>
        <p:nvSpPr>
          <p:cNvPr id="137" name="Google Shape;137;p22"/>
          <p:cNvSpPr/>
          <p:nvPr/>
        </p:nvSpPr>
        <p:spPr>
          <a:xfrm>
            <a:off x="3307300" y="2090200"/>
            <a:ext cx="1865400" cy="714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lt1"/>
              </a:solidFill>
              <a:highlight>
                <a:schemeClr val="lt1"/>
              </a:highlight>
            </a:endParaRPr>
          </a:p>
        </p:txBody>
      </p:sp>
      <p:sp>
        <p:nvSpPr>
          <p:cNvPr id="138" name="Google Shape;138;p22"/>
          <p:cNvSpPr/>
          <p:nvPr/>
        </p:nvSpPr>
        <p:spPr>
          <a:xfrm>
            <a:off x="218550" y="3803650"/>
            <a:ext cx="1865400" cy="270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highlight>
                <a:schemeClr val="lt1"/>
              </a:highlight>
            </a:endParaRPr>
          </a:p>
        </p:txBody>
      </p:sp>
      <p:sp>
        <p:nvSpPr>
          <p:cNvPr id="139" name="Google Shape;139;p22"/>
          <p:cNvSpPr/>
          <p:nvPr/>
        </p:nvSpPr>
        <p:spPr>
          <a:xfrm>
            <a:off x="3830125" y="866750"/>
            <a:ext cx="1865400" cy="270900"/>
          </a:xfrm>
          <a:prstGeom prst="rect">
            <a:avLst/>
          </a:prstGeom>
          <a:solidFill>
            <a:srgbClr val="627AA3"/>
          </a:solidFill>
          <a:ln cap="flat" cmpd="sng" w="9525">
            <a:solidFill>
              <a:srgbClr val="627AA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highlight>
                <a:schemeClr val="lt1"/>
              </a:high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7"/>
        </a:solidFill>
      </p:bgPr>
    </p:bg>
    <p:spTree>
      <p:nvGrpSpPr>
        <p:cNvPr id="143" name="Shape 143"/>
        <p:cNvGrpSpPr/>
        <p:nvPr/>
      </p:nvGrpSpPr>
      <p:grpSpPr>
        <a:xfrm>
          <a:off x="0" y="0"/>
          <a:ext cx="0" cy="0"/>
          <a:chOff x="0" y="0"/>
          <a:chExt cx="0" cy="0"/>
        </a:xfrm>
      </p:grpSpPr>
      <p:sp>
        <p:nvSpPr>
          <p:cNvPr id="144" name="Google Shape;144;p23"/>
          <p:cNvSpPr/>
          <p:nvPr/>
        </p:nvSpPr>
        <p:spPr>
          <a:xfrm>
            <a:off x="7898602" y="2376825"/>
            <a:ext cx="1065110" cy="383418"/>
          </a:xfrm>
          <a:prstGeom prst="rect">
            <a:avLst/>
          </a:prstGeom>
        </p:spPr>
        <p:txBody>
          <a:bodyPr>
            <a:prstTxWarp prst="textPlain"/>
          </a:bodyPr>
          <a:lstStyle/>
          <a:p>
            <a:pPr lvl="0" algn="ctr"/>
            <a:r>
              <a:rPr b="1" i="0">
                <a:ln cap="flat" cmpd="sng" w="9525">
                  <a:solidFill>
                    <a:schemeClr val="dk2"/>
                  </a:solidFill>
                  <a:prstDash val="solid"/>
                  <a:round/>
                  <a:headEnd len="sm" w="sm" type="none"/>
                  <a:tailEnd len="sm" w="sm" type="none"/>
                </a:ln>
                <a:solidFill>
                  <a:schemeClr val="dk1"/>
                </a:solidFill>
                <a:latin typeface="Arial"/>
              </a:rPr>
              <a:t>ERD</a:t>
            </a:r>
          </a:p>
        </p:txBody>
      </p:sp>
      <p:pic>
        <p:nvPicPr>
          <p:cNvPr id="145" name="Google Shape;145;p23" title="WhatsApp Image 2026-04-21 at 15.35.33.jpeg"/>
          <p:cNvPicPr preferRelativeResize="0"/>
          <p:nvPr/>
        </p:nvPicPr>
        <p:blipFill>
          <a:blip r:embed="rId3">
            <a:alphaModFix/>
          </a:blip>
          <a:stretch>
            <a:fillRect/>
          </a:stretch>
        </p:blipFill>
        <p:spPr>
          <a:xfrm>
            <a:off x="892025" y="0"/>
            <a:ext cx="5148788" cy="49910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4"/>
          <p:cNvSpPr/>
          <p:nvPr/>
        </p:nvSpPr>
        <p:spPr>
          <a:xfrm>
            <a:off x="258277" y="252950"/>
            <a:ext cx="8627441" cy="502299"/>
          </a:xfrm>
          <a:prstGeom prst="rect">
            <a:avLst/>
          </a:prstGeom>
        </p:spPr>
        <p:txBody>
          <a:bodyPr>
            <a:prstTxWarp prst="textPlain"/>
          </a:bodyPr>
          <a:lstStyle/>
          <a:p>
            <a:pPr lvl="0" algn="ctr"/>
            <a:r>
              <a:rPr b="1" i="0">
                <a:ln cap="flat" cmpd="sng" w="9525">
                  <a:solidFill>
                    <a:schemeClr val="dk2"/>
                  </a:solidFill>
                  <a:prstDash val="solid"/>
                  <a:round/>
                  <a:headEnd len="sm" w="sm" type="none"/>
                  <a:tailEnd len="sm" w="sm" type="none"/>
                </a:ln>
                <a:solidFill>
                  <a:schemeClr val="dk1"/>
                </a:solidFill>
                <a:latin typeface="Arial"/>
              </a:rPr>
              <a:t>Tech Stack &amp; System Architecture</a:t>
            </a:r>
          </a:p>
        </p:txBody>
      </p:sp>
      <p:sp>
        <p:nvSpPr>
          <p:cNvPr id="151" name="Google Shape;151;p24"/>
          <p:cNvSpPr/>
          <p:nvPr/>
        </p:nvSpPr>
        <p:spPr>
          <a:xfrm>
            <a:off x="961000" y="1054750"/>
            <a:ext cx="1719000" cy="677100"/>
          </a:xfrm>
          <a:prstGeom prst="roundRect">
            <a:avLst>
              <a:gd fmla="val 16667" name="adj"/>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zh-CN" sz="1600"/>
              <a:t>Frontend</a:t>
            </a:r>
            <a:endParaRPr b="1" sz="1600"/>
          </a:p>
        </p:txBody>
      </p:sp>
      <p:sp>
        <p:nvSpPr>
          <p:cNvPr id="152" name="Google Shape;152;p24"/>
          <p:cNvSpPr/>
          <p:nvPr/>
        </p:nvSpPr>
        <p:spPr>
          <a:xfrm>
            <a:off x="3712488" y="1054750"/>
            <a:ext cx="1719000" cy="677100"/>
          </a:xfrm>
          <a:prstGeom prst="roundRect">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zh-CN" sz="1600"/>
              <a:t>Backend</a:t>
            </a:r>
            <a:endParaRPr b="1" sz="1600"/>
          </a:p>
        </p:txBody>
      </p:sp>
      <p:sp>
        <p:nvSpPr>
          <p:cNvPr id="153" name="Google Shape;153;p24"/>
          <p:cNvSpPr/>
          <p:nvPr/>
        </p:nvSpPr>
        <p:spPr>
          <a:xfrm>
            <a:off x="6464000" y="1054750"/>
            <a:ext cx="1719000" cy="677100"/>
          </a:xfrm>
          <a:prstGeom prst="roundRect">
            <a:avLst>
              <a:gd fmla="val 16667" name="adj"/>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zh-CN" sz="1600"/>
              <a:t>Database</a:t>
            </a:r>
            <a:endParaRPr b="1" sz="1600"/>
          </a:p>
        </p:txBody>
      </p:sp>
      <p:sp>
        <p:nvSpPr>
          <p:cNvPr id="154" name="Google Shape;154;p24"/>
          <p:cNvSpPr/>
          <p:nvPr/>
        </p:nvSpPr>
        <p:spPr>
          <a:xfrm>
            <a:off x="976625" y="2031350"/>
            <a:ext cx="1719000" cy="2838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zh-CN"/>
              <a:t>▸  HTML + CSS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zh-CN"/>
              <a:t>▸  Tailwind CSS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CN"/>
              <a:t>▸  Login Page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CN"/>
              <a:t>▸  Project Table         View</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zh-CN"/>
              <a:t>▸  File Upload Button</a:t>
            </a:r>
            <a:endParaRPr/>
          </a:p>
        </p:txBody>
      </p:sp>
      <p:sp>
        <p:nvSpPr>
          <p:cNvPr id="155" name="Google Shape;155;p24"/>
          <p:cNvSpPr/>
          <p:nvPr/>
        </p:nvSpPr>
        <p:spPr>
          <a:xfrm>
            <a:off x="3615450" y="1966250"/>
            <a:ext cx="1928700" cy="2982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zh-CN" sz="1700"/>
              <a:t>Python · FastAPI · SQLModel</a:t>
            </a:r>
            <a:endParaRPr b="1" sz="1700"/>
          </a:p>
          <a:p>
            <a:pPr indent="0" lvl="0" marL="0" rtl="0" algn="l">
              <a:spcBef>
                <a:spcPts val="0"/>
              </a:spcBef>
              <a:spcAft>
                <a:spcPts val="0"/>
              </a:spcAft>
              <a:buClr>
                <a:schemeClr val="dk1"/>
              </a:buClr>
              <a:buSzPts val="1100"/>
              <a:buFont typeface="Arial"/>
              <a:buNone/>
            </a:pPr>
            <a:r>
              <a:t/>
            </a:r>
            <a:endParaRPr sz="1500"/>
          </a:p>
          <a:p>
            <a:pPr indent="0" lvl="0" marL="0" rtl="0" algn="l">
              <a:spcBef>
                <a:spcPts val="0"/>
              </a:spcBef>
              <a:spcAft>
                <a:spcPts val="0"/>
              </a:spcAft>
              <a:buNone/>
            </a:pPr>
            <a:r>
              <a:rPr lang="zh-CN" sz="1500"/>
              <a:t>REST API endpoints, authentication, file upload/download, validation logic, DB connection</a:t>
            </a:r>
            <a:endParaRPr sz="1500"/>
          </a:p>
        </p:txBody>
      </p:sp>
      <p:sp>
        <p:nvSpPr>
          <p:cNvPr id="156" name="Google Shape;156;p24"/>
          <p:cNvSpPr/>
          <p:nvPr/>
        </p:nvSpPr>
        <p:spPr>
          <a:xfrm>
            <a:off x="6464000" y="2031350"/>
            <a:ext cx="1719000" cy="2838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zh-CN"/>
              <a:t>▸  PostgreSQL</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CN"/>
              <a:t>▸  20+ Relational Tables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CN"/>
              <a:t>▸  FK / UNIQUE / CHECK</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CN"/>
              <a:t>▸  Triggers &amp; Constraints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zh-CN"/>
              <a:t>▸  Normalization</a:t>
            </a:r>
            <a:endParaRPr/>
          </a:p>
        </p:txBody>
      </p:sp>
      <p:sp>
        <p:nvSpPr>
          <p:cNvPr id="157" name="Google Shape;157;p24"/>
          <p:cNvSpPr/>
          <p:nvPr/>
        </p:nvSpPr>
        <p:spPr>
          <a:xfrm>
            <a:off x="968825" y="1966250"/>
            <a:ext cx="1719000" cy="2982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zh-CN" sz="1700"/>
              <a:t>HTML + CSS + Tailwind CSS</a:t>
            </a:r>
            <a:endParaRPr b="1" sz="1700"/>
          </a:p>
          <a:p>
            <a:pPr indent="0" lvl="0" marL="0" rtl="0" algn="l">
              <a:spcBef>
                <a:spcPts val="0"/>
              </a:spcBef>
              <a:spcAft>
                <a:spcPts val="0"/>
              </a:spcAft>
              <a:buClr>
                <a:schemeClr val="dk1"/>
              </a:buClr>
              <a:buSzPts val="1100"/>
              <a:buFont typeface="Arial"/>
              <a:buNone/>
            </a:pPr>
            <a:r>
              <a:t/>
            </a:r>
            <a:endParaRPr sz="1500"/>
          </a:p>
          <a:p>
            <a:pPr indent="0" lvl="0" marL="0" rtl="0" algn="l">
              <a:spcBef>
                <a:spcPts val="0"/>
              </a:spcBef>
              <a:spcAft>
                <a:spcPts val="0"/>
              </a:spcAft>
              <a:buNone/>
            </a:pPr>
            <a:r>
              <a:rPr lang="zh-CN" sz="1500"/>
              <a:t>Login, Dashboard, Project Table, Submission Forms, File Upload UI, Review Pages</a:t>
            </a:r>
            <a:endParaRPr sz="1500"/>
          </a:p>
        </p:txBody>
      </p:sp>
      <p:sp>
        <p:nvSpPr>
          <p:cNvPr id="158" name="Google Shape;158;p24"/>
          <p:cNvSpPr/>
          <p:nvPr/>
        </p:nvSpPr>
        <p:spPr>
          <a:xfrm>
            <a:off x="6456200" y="1966250"/>
            <a:ext cx="1719000" cy="2982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zh-CN" sz="1700"/>
              <a:t>PostgreSQL</a:t>
            </a:r>
            <a:endParaRPr b="1" sz="1700"/>
          </a:p>
          <a:p>
            <a:pPr indent="0" lvl="0" marL="0" rtl="0" algn="l">
              <a:spcBef>
                <a:spcPts val="0"/>
              </a:spcBef>
              <a:spcAft>
                <a:spcPts val="0"/>
              </a:spcAft>
              <a:buClr>
                <a:schemeClr val="dk1"/>
              </a:buClr>
              <a:buSzPts val="1100"/>
              <a:buFont typeface="Arial"/>
              <a:buNone/>
            </a:pPr>
            <a:r>
              <a:t/>
            </a:r>
            <a:endParaRPr sz="1500"/>
          </a:p>
          <a:p>
            <a:pPr indent="0" lvl="0" marL="0" rtl="0" algn="l">
              <a:spcBef>
                <a:spcPts val="0"/>
              </a:spcBef>
              <a:spcAft>
                <a:spcPts val="0"/>
              </a:spcAft>
              <a:buNone/>
            </a:pPr>
            <a:r>
              <a:rPr lang="zh-CN" sz="1500"/>
              <a:t>Schema, constraints (FK, UNIQUE, CHECK, NOT NULL), triggers, permit generation logic</a:t>
            </a:r>
            <a:endParaRPr sz="15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5"/>
          <p:cNvSpPr/>
          <p:nvPr/>
        </p:nvSpPr>
        <p:spPr>
          <a:xfrm>
            <a:off x="319288" y="201275"/>
            <a:ext cx="8505435" cy="495700"/>
          </a:xfrm>
          <a:prstGeom prst="rect">
            <a:avLst/>
          </a:prstGeom>
        </p:spPr>
        <p:txBody>
          <a:bodyPr>
            <a:prstTxWarp prst="textPlain"/>
          </a:bodyPr>
          <a:lstStyle/>
          <a:p>
            <a:pPr lvl="0" algn="ctr"/>
            <a:r>
              <a:rPr b="1" i="0">
                <a:ln cap="flat" cmpd="sng" w="9525">
                  <a:solidFill>
                    <a:schemeClr val="dk2"/>
                  </a:solidFill>
                  <a:prstDash val="solid"/>
                  <a:round/>
                  <a:headEnd len="sm" w="sm" type="none"/>
                  <a:tailEnd len="sm" w="sm" type="none"/>
                </a:ln>
                <a:solidFill>
                  <a:schemeClr val="dk1"/>
                </a:solidFill>
                <a:latin typeface="Arial"/>
              </a:rPr>
              <a:t>Unit test Cases - Validation</a:t>
            </a:r>
          </a:p>
        </p:txBody>
      </p:sp>
      <p:pic>
        <p:nvPicPr>
          <p:cNvPr id="164" name="Google Shape;164;p25"/>
          <p:cNvPicPr preferRelativeResize="0"/>
          <p:nvPr/>
        </p:nvPicPr>
        <p:blipFill>
          <a:blip r:embed="rId3">
            <a:alphaModFix/>
          </a:blip>
          <a:stretch>
            <a:fillRect/>
          </a:stretch>
        </p:blipFill>
        <p:spPr>
          <a:xfrm>
            <a:off x="0" y="997584"/>
            <a:ext cx="9144000" cy="381390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6"/>
          <p:cNvSpPr/>
          <p:nvPr/>
        </p:nvSpPr>
        <p:spPr>
          <a:xfrm>
            <a:off x="1569989" y="156329"/>
            <a:ext cx="6004026" cy="488912"/>
          </a:xfrm>
          <a:prstGeom prst="rect">
            <a:avLst/>
          </a:prstGeom>
        </p:spPr>
        <p:txBody>
          <a:bodyPr>
            <a:prstTxWarp prst="textPlain"/>
          </a:bodyPr>
          <a:lstStyle/>
          <a:p>
            <a:pPr lvl="0" algn="ctr"/>
            <a:r>
              <a:rPr b="1" i="0">
                <a:ln cap="flat" cmpd="sng" w="9525">
                  <a:solidFill>
                    <a:schemeClr val="dk2"/>
                  </a:solidFill>
                  <a:prstDash val="solid"/>
                  <a:round/>
                  <a:headEnd len="sm" w="sm" type="none"/>
                  <a:tailEnd len="sm" w="sm" type="none"/>
                </a:ln>
                <a:solidFill>
                  <a:schemeClr val="dk1"/>
                </a:solidFill>
                <a:latin typeface="Arial"/>
              </a:rPr>
              <a:t>What We Accomplished</a:t>
            </a:r>
          </a:p>
        </p:txBody>
      </p:sp>
      <p:sp>
        <p:nvSpPr>
          <p:cNvPr id="170" name="Google Shape;170;p26"/>
          <p:cNvSpPr/>
          <p:nvPr/>
        </p:nvSpPr>
        <p:spPr>
          <a:xfrm>
            <a:off x="531150" y="847225"/>
            <a:ext cx="3693300" cy="4890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zh-CN" sz="2000"/>
              <a:t>Completed</a:t>
            </a:r>
            <a:endParaRPr b="1" sz="2000"/>
          </a:p>
        </p:txBody>
      </p:sp>
      <p:sp>
        <p:nvSpPr>
          <p:cNvPr id="171" name="Google Shape;171;p26"/>
          <p:cNvSpPr/>
          <p:nvPr/>
        </p:nvSpPr>
        <p:spPr>
          <a:xfrm>
            <a:off x="222352" y="1538200"/>
            <a:ext cx="4239300" cy="34425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b="1" lang="zh-CN"/>
              <a:t>Backend &amp; frontend framework setup</a:t>
            </a:r>
            <a:endParaRPr b="1"/>
          </a:p>
          <a:p>
            <a:pPr indent="-317500" lvl="0" marL="457200" rtl="0" algn="l">
              <a:spcBef>
                <a:spcPts val="0"/>
              </a:spcBef>
              <a:spcAft>
                <a:spcPts val="0"/>
              </a:spcAft>
              <a:buSzPts val="1400"/>
              <a:buChar char="●"/>
            </a:pPr>
            <a:r>
              <a:rPr b="1" lang="zh-CN"/>
              <a:t>PostgreSQL schema with normalized tables</a:t>
            </a:r>
            <a:endParaRPr b="1"/>
          </a:p>
          <a:p>
            <a:pPr indent="-317500" lvl="0" marL="457200" rtl="0" algn="l">
              <a:spcBef>
                <a:spcPts val="0"/>
              </a:spcBef>
              <a:spcAft>
                <a:spcPts val="0"/>
              </a:spcAft>
              <a:buSzPts val="1400"/>
              <a:buChar char="●"/>
            </a:pPr>
            <a:r>
              <a:rPr b="1" lang="zh-CN"/>
              <a:t>All constraints (FK, UNIQUE, CHECK, NOT NULL) via FastAPI/SQLModel</a:t>
            </a:r>
            <a:endParaRPr b="1"/>
          </a:p>
          <a:p>
            <a:pPr indent="-317500" lvl="0" marL="457200" rtl="0" algn="l">
              <a:spcBef>
                <a:spcPts val="0"/>
              </a:spcBef>
              <a:spcAft>
                <a:spcPts val="0"/>
              </a:spcAft>
              <a:buSzPts val="1400"/>
              <a:buChar char="●"/>
            </a:pPr>
            <a:r>
              <a:rPr b="1" lang="zh-CN"/>
              <a:t>Backend-to-database connection</a:t>
            </a:r>
            <a:endParaRPr b="1"/>
          </a:p>
          <a:p>
            <a:pPr indent="-317500" lvl="0" marL="457200" rtl="0" algn="l">
              <a:spcBef>
                <a:spcPts val="0"/>
              </a:spcBef>
              <a:spcAft>
                <a:spcPts val="0"/>
              </a:spcAft>
              <a:buSzPts val="1400"/>
              <a:buChar char="●"/>
            </a:pPr>
            <a:r>
              <a:rPr b="1" lang="zh-CN"/>
              <a:t>User authentication (login &amp; registration)</a:t>
            </a:r>
            <a:endParaRPr b="1"/>
          </a:p>
          <a:p>
            <a:pPr indent="-317500" lvl="0" marL="457200" rtl="0" algn="l">
              <a:spcBef>
                <a:spcPts val="0"/>
              </a:spcBef>
              <a:spcAft>
                <a:spcPts val="0"/>
              </a:spcAft>
              <a:buSzPts val="1400"/>
              <a:buChar char="●"/>
            </a:pPr>
            <a:r>
              <a:rPr b="1" lang="zh-CN"/>
              <a:t>Landing page &amp; project table view</a:t>
            </a:r>
            <a:endParaRPr b="1"/>
          </a:p>
          <a:p>
            <a:pPr indent="-317500" lvl="0" marL="457200" rtl="0" algn="l">
              <a:spcBef>
                <a:spcPts val="0"/>
              </a:spcBef>
              <a:spcAft>
                <a:spcPts val="0"/>
              </a:spcAft>
              <a:buSzPts val="1400"/>
              <a:buChar char="●"/>
            </a:pPr>
            <a:r>
              <a:rPr b="1" lang="zh-CN"/>
              <a:t>Create Project form (multi-step)</a:t>
            </a:r>
            <a:endParaRPr b="1"/>
          </a:p>
          <a:p>
            <a:pPr indent="-317500" lvl="0" marL="457200" rtl="0" algn="l">
              <a:spcBef>
                <a:spcPts val="0"/>
              </a:spcBef>
              <a:spcAft>
                <a:spcPts val="0"/>
              </a:spcAft>
              <a:buSzPts val="1400"/>
              <a:buChar char="●"/>
            </a:pPr>
            <a:r>
              <a:rPr b="1" lang="zh-CN"/>
              <a:t>Submission Form + validation logic</a:t>
            </a:r>
            <a:endParaRPr b="1"/>
          </a:p>
          <a:p>
            <a:pPr indent="-317500" lvl="0" marL="457200" rtl="0" algn="l">
              <a:spcBef>
                <a:spcPts val="0"/>
              </a:spcBef>
              <a:spcAft>
                <a:spcPts val="0"/>
              </a:spcAft>
              <a:buSzPts val="1400"/>
              <a:buChar char="●"/>
            </a:pPr>
            <a:r>
              <a:rPr b="1" lang="zh-CN"/>
              <a:t>File Upload &amp; Download API</a:t>
            </a:r>
            <a:endParaRPr b="1"/>
          </a:p>
          <a:p>
            <a:pPr indent="-317500" lvl="0" marL="457200" rtl="0" algn="l">
              <a:spcBef>
                <a:spcPts val="0"/>
              </a:spcBef>
              <a:spcAft>
                <a:spcPts val="0"/>
              </a:spcAft>
              <a:buSzPts val="1400"/>
              <a:buChar char="●"/>
            </a:pPr>
            <a:r>
              <a:rPr b="1" lang="zh-CN"/>
              <a:t>Agency review workflow &amp; WD display</a:t>
            </a:r>
            <a:endParaRPr b="1"/>
          </a:p>
          <a:p>
            <a:pPr indent="-317500" lvl="0" marL="457200" rtl="0" algn="l">
              <a:spcBef>
                <a:spcPts val="0"/>
              </a:spcBef>
              <a:spcAft>
                <a:spcPts val="0"/>
              </a:spcAft>
              <a:buSzPts val="1400"/>
              <a:buChar char="●"/>
            </a:pPr>
            <a:r>
              <a:rPr b="1" lang="zh-CN"/>
              <a:t>Status Update &amp; Role-Based UI Restrictions</a:t>
            </a:r>
            <a:endParaRPr b="1"/>
          </a:p>
        </p:txBody>
      </p:sp>
      <p:sp>
        <p:nvSpPr>
          <p:cNvPr id="172" name="Google Shape;172;p26"/>
          <p:cNvSpPr/>
          <p:nvPr/>
        </p:nvSpPr>
        <p:spPr>
          <a:xfrm>
            <a:off x="4863575" y="847225"/>
            <a:ext cx="3693300" cy="4890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zh-CN" sz="2000"/>
              <a:t>Future Enhancement</a:t>
            </a:r>
            <a:endParaRPr b="1" sz="2000"/>
          </a:p>
        </p:txBody>
      </p:sp>
      <p:sp>
        <p:nvSpPr>
          <p:cNvPr id="173" name="Google Shape;173;p26"/>
          <p:cNvSpPr/>
          <p:nvPr/>
        </p:nvSpPr>
        <p:spPr>
          <a:xfrm>
            <a:off x="4631300" y="1538175"/>
            <a:ext cx="4306800" cy="12336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17500" lvl="0" marL="457200" rtl="0" algn="l">
              <a:spcBef>
                <a:spcPts val="0"/>
              </a:spcBef>
              <a:spcAft>
                <a:spcPts val="0"/>
              </a:spcAft>
              <a:buClr>
                <a:schemeClr val="dk1"/>
              </a:buClr>
              <a:buSzPts val="1400"/>
              <a:buChar char="●"/>
            </a:pPr>
            <a:r>
              <a:rPr b="1" lang="zh-CN">
                <a:solidFill>
                  <a:schemeClr val="dk1"/>
                </a:solidFill>
              </a:rPr>
              <a:t>Full Dashboard</a:t>
            </a:r>
            <a:endParaRPr b="1">
              <a:solidFill>
                <a:schemeClr val="dk1"/>
              </a:solidFill>
            </a:endParaRPr>
          </a:p>
          <a:p>
            <a:pPr indent="-317500" lvl="0" marL="457200" rtl="0" algn="l">
              <a:spcBef>
                <a:spcPts val="0"/>
              </a:spcBef>
              <a:spcAft>
                <a:spcPts val="0"/>
              </a:spcAft>
              <a:buClr>
                <a:schemeClr val="dk1"/>
              </a:buClr>
              <a:buSzPts val="1400"/>
              <a:buChar char="●"/>
            </a:pPr>
            <a:r>
              <a:rPr b="1" lang="zh-CN">
                <a:solidFill>
                  <a:schemeClr val="dk1"/>
                </a:solidFill>
              </a:rPr>
              <a:t>Cancel &amp; Back Navigation polish</a:t>
            </a:r>
            <a:endParaRPr b="1">
              <a:solidFill>
                <a:schemeClr val="dk1"/>
              </a:solidFill>
            </a:endParaRPr>
          </a:p>
          <a:p>
            <a:pPr indent="-317500" lvl="0" marL="457200" rtl="0" algn="l">
              <a:spcBef>
                <a:spcPts val="0"/>
              </a:spcBef>
              <a:spcAft>
                <a:spcPts val="0"/>
              </a:spcAft>
              <a:buClr>
                <a:schemeClr val="dk1"/>
              </a:buClr>
              <a:buSzPts val="1400"/>
              <a:buChar char="●"/>
            </a:pPr>
            <a:r>
              <a:rPr b="1" lang="zh-CN">
                <a:solidFill>
                  <a:schemeClr val="dk1"/>
                </a:solidFill>
              </a:rPr>
              <a:t>End-to-End integration testing</a:t>
            </a:r>
            <a:endParaRPr b="1">
              <a:solidFill>
                <a:schemeClr val="dk1"/>
              </a:solidFill>
            </a:endParaRPr>
          </a:p>
          <a:p>
            <a:pPr indent="-317500" lvl="0" marL="457200" rtl="0" algn="l">
              <a:spcBef>
                <a:spcPts val="0"/>
              </a:spcBef>
              <a:spcAft>
                <a:spcPts val="0"/>
              </a:spcAft>
              <a:buClr>
                <a:schemeClr val="dk1"/>
              </a:buClr>
              <a:buSzPts val="1400"/>
              <a:buChar char="●"/>
            </a:pPr>
            <a:r>
              <a:rPr b="1" lang="zh-CN">
                <a:solidFill>
                  <a:schemeClr val="dk1"/>
                </a:solidFill>
              </a:rPr>
              <a:t>User Acceptance Testing (UAT)</a:t>
            </a:r>
            <a:endParaRPr b="1">
              <a:solidFill>
                <a:schemeClr val="dk1"/>
              </a:solidFill>
            </a:endParaRPr>
          </a:p>
          <a:p>
            <a:pPr indent="-317500" lvl="0" marL="457200" rtl="0" algn="l">
              <a:spcBef>
                <a:spcPts val="0"/>
              </a:spcBef>
              <a:spcAft>
                <a:spcPts val="0"/>
              </a:spcAft>
              <a:buClr>
                <a:schemeClr val="dk1"/>
              </a:buClr>
              <a:buSzPts val="1400"/>
              <a:buChar char="●"/>
            </a:pPr>
            <a:r>
              <a:rPr b="1" lang="zh-CN">
                <a:solidFill>
                  <a:schemeClr val="dk1"/>
                </a:solidFill>
              </a:rPr>
              <a:t>Final documentation</a:t>
            </a:r>
            <a:endParaRPr b="1">
              <a:solidFill>
                <a:schemeClr val="dk1"/>
              </a:solidFill>
            </a:endParaRPr>
          </a:p>
        </p:txBody>
      </p:sp>
      <p:pic>
        <p:nvPicPr>
          <p:cNvPr id="174" name="Google Shape;174;p26"/>
          <p:cNvPicPr preferRelativeResize="0"/>
          <p:nvPr/>
        </p:nvPicPr>
        <p:blipFill rotWithShape="1">
          <a:blip r:embed="rId3">
            <a:alphaModFix/>
          </a:blip>
          <a:srcRect b="0" l="10" r="0" t="0"/>
          <a:stretch/>
        </p:blipFill>
        <p:spPr>
          <a:xfrm>
            <a:off x="4476475" y="2879843"/>
            <a:ext cx="4515126" cy="213437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7"/>
          <p:cNvSpPr/>
          <p:nvPr/>
        </p:nvSpPr>
        <p:spPr>
          <a:xfrm>
            <a:off x="777714" y="230446"/>
            <a:ext cx="7588570" cy="502299"/>
          </a:xfrm>
          <a:prstGeom prst="rect">
            <a:avLst/>
          </a:prstGeom>
        </p:spPr>
        <p:txBody>
          <a:bodyPr>
            <a:prstTxWarp prst="textPlain"/>
          </a:bodyPr>
          <a:lstStyle/>
          <a:p>
            <a:pPr lvl="0" algn="ctr"/>
            <a:r>
              <a:rPr b="1" i="0">
                <a:ln cap="flat" cmpd="sng" w="9525">
                  <a:solidFill>
                    <a:schemeClr val="dk2"/>
                  </a:solidFill>
                  <a:prstDash val="solid"/>
                  <a:round/>
                  <a:headEnd len="sm" w="sm" type="none"/>
                  <a:tailEnd len="sm" w="sm" type="none"/>
                </a:ln>
                <a:solidFill>
                  <a:schemeClr val="dk1"/>
                </a:solidFill>
                <a:latin typeface="Arial"/>
              </a:rPr>
              <a:t>Challenges &amp; Lesson Learned</a:t>
            </a:r>
          </a:p>
        </p:txBody>
      </p:sp>
      <p:sp>
        <p:nvSpPr>
          <p:cNvPr id="180" name="Google Shape;180;p27"/>
          <p:cNvSpPr/>
          <p:nvPr/>
        </p:nvSpPr>
        <p:spPr>
          <a:xfrm>
            <a:off x="266814" y="1428828"/>
            <a:ext cx="4135500" cy="9018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zh-CN" sz="1500"/>
              <a:t>Increase complexity when changing the database</a:t>
            </a:r>
            <a:endParaRPr b="1"/>
          </a:p>
        </p:txBody>
      </p:sp>
      <p:sp>
        <p:nvSpPr>
          <p:cNvPr id="181" name="Google Shape;181;p27"/>
          <p:cNvSpPr/>
          <p:nvPr/>
        </p:nvSpPr>
        <p:spPr>
          <a:xfrm>
            <a:off x="266814" y="2500239"/>
            <a:ext cx="4135500" cy="9018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zh-CN"/>
              <a:t>A QP can simultaneously act as a</a:t>
            </a:r>
            <a:r>
              <a:rPr b="1" lang="zh-CN"/>
              <a:t> </a:t>
            </a:r>
            <a:r>
              <a:rPr b="1" lang="zh-CN"/>
              <a:t>Submission Coordinator, creating ambiguous permission states.</a:t>
            </a:r>
            <a:endParaRPr b="1"/>
          </a:p>
        </p:txBody>
      </p:sp>
      <p:sp>
        <p:nvSpPr>
          <p:cNvPr id="182" name="Google Shape;182;p27"/>
          <p:cNvSpPr/>
          <p:nvPr/>
        </p:nvSpPr>
        <p:spPr>
          <a:xfrm>
            <a:off x="266814" y="3571628"/>
            <a:ext cx="4135500" cy="9018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zh-CN"/>
              <a:t>Generating a new submission version while preserving the full history of sections and documents was non-trivial.</a:t>
            </a:r>
            <a:endParaRPr b="1" sz="1800"/>
          </a:p>
        </p:txBody>
      </p:sp>
      <p:sp>
        <p:nvSpPr>
          <p:cNvPr id="183" name="Google Shape;183;p27"/>
          <p:cNvSpPr/>
          <p:nvPr/>
        </p:nvSpPr>
        <p:spPr>
          <a:xfrm>
            <a:off x="4745150" y="1428828"/>
            <a:ext cx="4135500" cy="9018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zh-CN"/>
              <a:t>Planning ahead is crucial to reducing the amount of time needed to make changes</a:t>
            </a:r>
            <a:endParaRPr b="1"/>
          </a:p>
        </p:txBody>
      </p:sp>
      <p:sp>
        <p:nvSpPr>
          <p:cNvPr id="184" name="Google Shape;184;p27"/>
          <p:cNvSpPr/>
          <p:nvPr/>
        </p:nvSpPr>
        <p:spPr>
          <a:xfrm>
            <a:off x="4745150" y="2504403"/>
            <a:ext cx="4135500" cy="9018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zh-CN"/>
              <a:t>Used separate role assignment tables to track dual roles per-submission, keeping the base user table clean.</a:t>
            </a:r>
            <a:endParaRPr b="1"/>
          </a:p>
        </p:txBody>
      </p:sp>
      <p:sp>
        <p:nvSpPr>
          <p:cNvPr id="185" name="Google Shape;185;p27"/>
          <p:cNvSpPr/>
          <p:nvPr/>
        </p:nvSpPr>
        <p:spPr>
          <a:xfrm>
            <a:off x="4745150" y="3579978"/>
            <a:ext cx="4135500" cy="9018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zh-CN"/>
              <a:t>Version field on both Submission and Section tables, with parent-child linkage tracking revision chains.</a:t>
            </a:r>
            <a:endParaRPr b="1"/>
          </a:p>
        </p:txBody>
      </p:sp>
      <p:sp>
        <p:nvSpPr>
          <p:cNvPr id="186" name="Google Shape;186;p27"/>
          <p:cNvSpPr/>
          <p:nvPr/>
        </p:nvSpPr>
        <p:spPr>
          <a:xfrm>
            <a:off x="4461688" y="1790771"/>
            <a:ext cx="224100" cy="177900"/>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7" name="Google Shape;187;p27"/>
          <p:cNvSpPr/>
          <p:nvPr/>
        </p:nvSpPr>
        <p:spPr>
          <a:xfrm>
            <a:off x="4461675" y="2866346"/>
            <a:ext cx="224100" cy="177900"/>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8" name="Google Shape;188;p27"/>
          <p:cNvSpPr/>
          <p:nvPr/>
        </p:nvSpPr>
        <p:spPr>
          <a:xfrm>
            <a:off x="4461675" y="3941921"/>
            <a:ext cx="224100" cy="177900"/>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8"/>
          <p:cNvSpPr/>
          <p:nvPr/>
        </p:nvSpPr>
        <p:spPr>
          <a:xfrm>
            <a:off x="1332138" y="201275"/>
            <a:ext cx="6479701" cy="513256"/>
          </a:xfrm>
          <a:prstGeom prst="rect">
            <a:avLst/>
          </a:prstGeom>
        </p:spPr>
        <p:txBody>
          <a:bodyPr>
            <a:prstTxWarp prst="textPlain"/>
          </a:bodyPr>
          <a:lstStyle/>
          <a:p>
            <a:pPr lvl="0" algn="ctr"/>
            <a:r>
              <a:rPr b="1" i="0">
                <a:ln cap="flat" cmpd="sng" w="9525">
                  <a:solidFill>
                    <a:schemeClr val="dk2"/>
                  </a:solidFill>
                  <a:prstDash val="solid"/>
                  <a:round/>
                  <a:headEnd len="sm" w="sm" type="none"/>
                  <a:tailEnd len="sm" w="sm" type="none"/>
                </a:ln>
                <a:solidFill>
                  <a:schemeClr val="dk1"/>
                </a:solidFill>
                <a:latin typeface="Arial"/>
              </a:rPr>
              <a:t>Live Demonstration</a:t>
            </a:r>
          </a:p>
        </p:txBody>
      </p:sp>
      <p:pic>
        <p:nvPicPr>
          <p:cNvPr id="194" name="Google Shape;194;p28"/>
          <p:cNvPicPr preferRelativeResize="0"/>
          <p:nvPr/>
        </p:nvPicPr>
        <p:blipFill>
          <a:blip r:embed="rId3">
            <a:alphaModFix/>
          </a:blip>
          <a:stretch>
            <a:fillRect/>
          </a:stretch>
        </p:blipFill>
        <p:spPr>
          <a:xfrm>
            <a:off x="-150348" y="1658282"/>
            <a:ext cx="9415050" cy="3603799"/>
          </a:xfrm>
          <a:prstGeom prst="rect">
            <a:avLst/>
          </a:prstGeom>
          <a:noFill/>
          <a:ln>
            <a:noFill/>
          </a:ln>
        </p:spPr>
      </p:pic>
      <p:sp>
        <p:nvSpPr>
          <p:cNvPr id="195" name="Google Shape;195;p28"/>
          <p:cNvSpPr/>
          <p:nvPr/>
        </p:nvSpPr>
        <p:spPr>
          <a:xfrm>
            <a:off x="394550" y="946938"/>
            <a:ext cx="8354923" cy="478933"/>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solidFill>
                  <a:schemeClr val="dk1"/>
                </a:solidFill>
                <a:latin typeface="Arial"/>
              </a:rPr>
              <a:t>Walkthrough of the working application</a:t>
            </a: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9"/>
          <p:cNvSpPr/>
          <p:nvPr/>
        </p:nvSpPr>
        <p:spPr>
          <a:xfrm>
            <a:off x="1215489" y="171157"/>
            <a:ext cx="6713028" cy="400019"/>
          </a:xfrm>
          <a:prstGeom prst="rect">
            <a:avLst/>
          </a:prstGeom>
        </p:spPr>
        <p:txBody>
          <a:bodyPr>
            <a:prstTxWarp prst="textPlain"/>
          </a:bodyPr>
          <a:lstStyle/>
          <a:p>
            <a:pPr lvl="0" algn="ctr"/>
            <a:r>
              <a:rPr b="1" i="0">
                <a:ln cap="flat" cmpd="sng" w="9525">
                  <a:solidFill>
                    <a:schemeClr val="dk2"/>
                  </a:solidFill>
                  <a:prstDash val="solid"/>
                  <a:round/>
                  <a:headEnd len="sm" w="sm" type="none"/>
                  <a:tailEnd len="sm" w="sm" type="none"/>
                </a:ln>
                <a:solidFill>
                  <a:schemeClr val="dk1"/>
                </a:solidFill>
                <a:latin typeface="Arial"/>
              </a:rPr>
              <a:t>Conclusion &amp; Future Work</a:t>
            </a:r>
          </a:p>
        </p:txBody>
      </p:sp>
      <p:sp>
        <p:nvSpPr>
          <p:cNvPr id="201" name="Google Shape;201;p29"/>
          <p:cNvSpPr/>
          <p:nvPr/>
        </p:nvSpPr>
        <p:spPr>
          <a:xfrm>
            <a:off x="531150" y="847225"/>
            <a:ext cx="3693300" cy="7389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zh-CN" sz="2000"/>
              <a:t>What we achieved</a:t>
            </a:r>
            <a:endParaRPr b="1" sz="2000"/>
          </a:p>
        </p:txBody>
      </p:sp>
      <p:sp>
        <p:nvSpPr>
          <p:cNvPr id="202" name="Google Shape;202;p29"/>
          <p:cNvSpPr/>
          <p:nvPr/>
        </p:nvSpPr>
        <p:spPr>
          <a:xfrm>
            <a:off x="4863575" y="847225"/>
            <a:ext cx="3693300" cy="7389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zh-CN" sz="2000"/>
              <a:t>Future Enhancement</a:t>
            </a:r>
            <a:endParaRPr b="1" sz="2000"/>
          </a:p>
        </p:txBody>
      </p:sp>
      <p:sp>
        <p:nvSpPr>
          <p:cNvPr id="203" name="Google Shape;203;p29"/>
          <p:cNvSpPr/>
          <p:nvPr/>
        </p:nvSpPr>
        <p:spPr>
          <a:xfrm>
            <a:off x="237175" y="1755575"/>
            <a:ext cx="4239300" cy="32250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b="1" lang="zh-CN"/>
              <a:t>Fully functional RDBMS-backed web application for construction permit management</a:t>
            </a:r>
            <a:endParaRPr b="1"/>
          </a:p>
          <a:p>
            <a:pPr indent="-317500" lvl="0" marL="457200" rtl="0" algn="l">
              <a:spcBef>
                <a:spcPts val="0"/>
              </a:spcBef>
              <a:spcAft>
                <a:spcPts val="0"/>
              </a:spcAft>
              <a:buSzPts val="1400"/>
              <a:buChar char="●"/>
            </a:pPr>
            <a:r>
              <a:rPr b="1" lang="zh-CN"/>
              <a:t>Robust normalized PostgreSQL schema with 10+ entities and enforced data integrity</a:t>
            </a:r>
            <a:endParaRPr b="1"/>
          </a:p>
          <a:p>
            <a:pPr indent="-317500" lvl="0" marL="457200" rtl="0" algn="l">
              <a:spcBef>
                <a:spcPts val="0"/>
              </a:spcBef>
              <a:spcAft>
                <a:spcPts val="0"/>
              </a:spcAft>
              <a:buSzPts val="1400"/>
              <a:buChar char="●"/>
            </a:pPr>
            <a:r>
              <a:rPr b="1" lang="zh-CN"/>
              <a:t>Role-based access control for 4 distinct user types</a:t>
            </a:r>
            <a:endParaRPr b="1"/>
          </a:p>
          <a:p>
            <a:pPr indent="-317500" lvl="0" marL="457200" rtl="0" algn="l">
              <a:spcBef>
                <a:spcPts val="0"/>
              </a:spcBef>
              <a:spcAft>
                <a:spcPts val="0"/>
              </a:spcAft>
              <a:buSzPts val="1400"/>
              <a:buChar char="●"/>
            </a:pPr>
            <a:r>
              <a:rPr b="1" lang="zh-CN"/>
              <a:t>End-to-end submission lifecycle from Draft to Approved with versioning</a:t>
            </a:r>
            <a:endParaRPr b="1"/>
          </a:p>
          <a:p>
            <a:pPr indent="-317500" lvl="0" marL="457200" rtl="0" algn="l">
              <a:spcBef>
                <a:spcPts val="0"/>
              </a:spcBef>
              <a:spcAft>
                <a:spcPts val="0"/>
              </a:spcAft>
              <a:buSzPts val="1400"/>
              <a:buChar char="●"/>
            </a:pPr>
            <a:r>
              <a:rPr b="1" lang="zh-CN"/>
              <a:t>Parallel multi-agency review system eliminating sequential bottlenecks</a:t>
            </a:r>
            <a:endParaRPr b="1"/>
          </a:p>
          <a:p>
            <a:pPr indent="-317500" lvl="0" marL="457200" rtl="0" algn="l">
              <a:spcBef>
                <a:spcPts val="0"/>
              </a:spcBef>
              <a:spcAft>
                <a:spcPts val="0"/>
              </a:spcAft>
              <a:buSzPts val="1400"/>
              <a:buChar char="●"/>
            </a:pPr>
            <a:r>
              <a:rPr b="1" lang="zh-CN"/>
              <a:t>File upload/download for PDF plans and 3D models</a:t>
            </a:r>
            <a:endParaRPr b="1"/>
          </a:p>
        </p:txBody>
      </p:sp>
      <p:sp>
        <p:nvSpPr>
          <p:cNvPr id="204" name="Google Shape;204;p29"/>
          <p:cNvSpPr/>
          <p:nvPr/>
        </p:nvSpPr>
        <p:spPr>
          <a:xfrm>
            <a:off x="4572000" y="1755675"/>
            <a:ext cx="4306800" cy="32250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b="1" lang="zh-CN">
                <a:solidFill>
                  <a:srgbClr val="CC0000"/>
                </a:solidFill>
              </a:rPr>
              <a:t>Email Notifications: </a:t>
            </a:r>
            <a:r>
              <a:rPr b="1" lang="zh-CN"/>
              <a:t>Auto-notify stakeholders on status changes and WD issuance</a:t>
            </a:r>
            <a:endParaRPr b="1"/>
          </a:p>
          <a:p>
            <a:pPr indent="-317500" lvl="0" marL="457200" rtl="0" algn="l">
              <a:spcBef>
                <a:spcPts val="0"/>
              </a:spcBef>
              <a:spcAft>
                <a:spcPts val="0"/>
              </a:spcAft>
              <a:buSzPts val="1400"/>
              <a:buChar char="●"/>
            </a:pPr>
            <a:r>
              <a:rPr b="1" lang="zh-CN">
                <a:solidFill>
                  <a:srgbClr val="CC0000"/>
                </a:solidFill>
              </a:rPr>
              <a:t>Mobile Responsive UI:</a:t>
            </a:r>
            <a:r>
              <a:rPr b="1" lang="zh-CN">
                <a:solidFill>
                  <a:srgbClr val="CC4125"/>
                </a:solidFill>
              </a:rPr>
              <a:t> </a:t>
            </a:r>
            <a:r>
              <a:rPr b="1" lang="zh-CN"/>
              <a:t>Full responsive layout for on-site field use</a:t>
            </a:r>
            <a:endParaRPr b="1"/>
          </a:p>
          <a:p>
            <a:pPr indent="-317500" lvl="0" marL="457200" rtl="0" algn="l">
              <a:spcBef>
                <a:spcPts val="0"/>
              </a:spcBef>
              <a:spcAft>
                <a:spcPts val="0"/>
              </a:spcAft>
              <a:buSzPts val="1400"/>
              <a:buChar char="●"/>
            </a:pPr>
            <a:r>
              <a:rPr b="1" lang="zh-CN">
                <a:solidFill>
                  <a:srgbClr val="CC0000"/>
                </a:solidFill>
              </a:rPr>
              <a:t>Analytics Dashboard: </a:t>
            </a:r>
            <a:r>
              <a:rPr b="1" lang="zh-CN"/>
              <a:t>Processing time metrics, bottleneck identification per agency</a:t>
            </a:r>
            <a:endParaRPr b="1"/>
          </a:p>
          <a:p>
            <a:pPr indent="-317500" lvl="0" marL="457200" rtl="0" algn="l">
              <a:spcBef>
                <a:spcPts val="0"/>
              </a:spcBef>
              <a:spcAft>
                <a:spcPts val="0"/>
              </a:spcAft>
              <a:buSzPts val="1400"/>
              <a:buChar char="●"/>
            </a:pPr>
            <a:r>
              <a:rPr b="1" lang="zh-CN">
                <a:solidFill>
                  <a:srgbClr val="CC0000"/>
                </a:solidFill>
              </a:rPr>
              <a:t>Digital Signatures:</a:t>
            </a:r>
            <a:r>
              <a:rPr b="1" lang="zh-CN"/>
              <a:t> Legally binding e-signatures for QP declarations</a:t>
            </a:r>
            <a:endParaRPr b="1"/>
          </a:p>
          <a:p>
            <a:pPr indent="-317500" lvl="0" marL="457200" rtl="0" algn="l">
              <a:spcBef>
                <a:spcPts val="0"/>
              </a:spcBef>
              <a:spcAft>
                <a:spcPts val="0"/>
              </a:spcAft>
              <a:buSzPts val="1400"/>
              <a:buChar char="●"/>
            </a:pPr>
            <a:r>
              <a:rPr b="1" lang="zh-CN">
                <a:solidFill>
                  <a:srgbClr val="CC0000"/>
                </a:solidFill>
              </a:rPr>
              <a:t>Third-party Integration: </a:t>
            </a:r>
            <a:r>
              <a:rPr b="1" lang="zh-CN"/>
              <a:t>Connect to government agency APIs for real submission routing</a:t>
            </a:r>
            <a:endParaRPr b="1"/>
          </a:p>
          <a:p>
            <a:pPr indent="-317500" lvl="0" marL="457200" rtl="0" algn="l">
              <a:spcBef>
                <a:spcPts val="0"/>
              </a:spcBef>
              <a:spcAft>
                <a:spcPts val="0"/>
              </a:spcAft>
              <a:buSzPts val="1400"/>
              <a:buChar char="●"/>
            </a:pPr>
            <a:r>
              <a:rPr b="1" lang="zh-CN">
                <a:solidFill>
                  <a:srgbClr val="CC0000"/>
                </a:solidFill>
              </a:rPr>
              <a:t>Audit Trail:</a:t>
            </a:r>
            <a:r>
              <a:rPr b="1" lang="zh-CN"/>
              <a:t> Immutable log of all status changes and document uploads</a:t>
            </a:r>
            <a:endParaRPr b="1"/>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